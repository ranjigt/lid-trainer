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8"/>
  </p:normalViewPr>
  <p:slideViewPr>
    <p:cSldViewPr snapToGrid="0" snapToObjects="1">
      <p:cViewPr varScale="1">
        <p:scale>
          <a:sx n="113" d="100"/>
          <a:sy n="113" d="100"/>
        </p:scale>
        <p:origin x="71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/>
              <a:t>2023 vs 2024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Participants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307221</c:v>
                </c:pt>
                <c:pt idx="1">
                  <c:v>316467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B4-7743-B773-6ADA49AED6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Passed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2024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285917</c:v>
                </c:pt>
                <c:pt idx="1">
                  <c:v>290017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2B4-7743-B773-6ADA49AED6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318082818872993"/>
          <c:y val="0.85453251126628038"/>
          <c:w val="0.41469508212881839"/>
          <c:h val="0.14546748873371962"/>
        </c:manualLayout>
      </c:layout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Participants</c:v>
                </c:pt>
              </c:strCache>
            </c:strRef>
          </c:tx>
          <c:cat>
            <c:strRef>
              <c:f>Sheet1!$A$2:$A$17</c:f>
              <c:strCache>
                <c:ptCount val="16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  <c:pt idx="15">
                  <c:v>2024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70457</c:v>
                </c:pt>
                <c:pt idx="1">
                  <c:v>73380</c:v>
                </c:pt>
                <c:pt idx="2">
                  <c:v>68290</c:v>
                </c:pt>
                <c:pt idx="3">
                  <c:v>68294</c:v>
                </c:pt>
                <c:pt idx="4">
                  <c:v>72207</c:v>
                </c:pt>
                <c:pt idx="5">
                  <c:v>84912</c:v>
                </c:pt>
                <c:pt idx="6">
                  <c:v>98732</c:v>
                </c:pt>
                <c:pt idx="7">
                  <c:v>132709</c:v>
                </c:pt>
                <c:pt idx="8">
                  <c:v>224121</c:v>
                </c:pt>
                <c:pt idx="9">
                  <c:v>195987</c:v>
                </c:pt>
                <c:pt idx="10">
                  <c:v>166097</c:v>
                </c:pt>
                <c:pt idx="11">
                  <c:v>96690</c:v>
                </c:pt>
                <c:pt idx="12">
                  <c:v>99599</c:v>
                </c:pt>
                <c:pt idx="13">
                  <c:v>129360</c:v>
                </c:pt>
                <c:pt idx="14">
                  <c:v>307221</c:v>
                </c:pt>
                <c:pt idx="15">
                  <c:v>316467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54D-CE47-8A40-5869B493A8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3500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2326"/>
            <a:ext cx="12191999" cy="6858000"/>
          </a:xfrm>
          <a:prstGeom prst="rect">
            <a:avLst/>
          </a:prstGeom>
          <a:solidFill>
            <a:srgbClr val="131E37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F5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5225" y="709220"/>
            <a:ext cx="10521243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de-DE" sz="3400" b="1" i="1" dirty="0">
                <a:solidFill>
                  <a:srgbClr val="FFFFFF"/>
                </a:solidFill>
                <a:latin typeface="Aptos"/>
              </a:rPr>
              <a:t>EINBÜRGERUNGSTEST - GERMAN CITIZENSHIP TEST </a:t>
            </a:r>
            <a:endParaRPr sz="3400" b="1" i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0" y="1783080"/>
            <a:ext cx="2423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000" b="1" dirty="0">
                <a:solidFill>
                  <a:srgbClr val="131E37"/>
                </a:solidFill>
                <a:latin typeface="Aptos"/>
              </a:rPr>
              <a:t>33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C9284E9-6CC5-D292-69E5-D0EB2337B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95" y="1783075"/>
            <a:ext cx="4004450" cy="463117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1FCAEAD-BBDF-8C05-F40C-4DBE8DCF2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445" y="1783073"/>
            <a:ext cx="4286673" cy="463117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A27F9F6-FE08-27BD-AF5E-6247F5993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545" y="1783074"/>
            <a:ext cx="4354688" cy="4631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6088"/>
            <a:ext cx="12191999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27548" y="652226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46E80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79" y="228600"/>
            <a:ext cx="907118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31E37"/>
                </a:solidFill>
                <a:latin typeface="Aptos"/>
              </a:rPr>
              <a:t>What is “Leben in Deutschland”</a:t>
            </a:r>
            <a:r>
              <a:rPr lang="de-DE" sz="2800" b="1" dirty="0">
                <a:solidFill>
                  <a:srgbClr val="131E37"/>
                </a:solidFill>
                <a:latin typeface="Aptos"/>
              </a:rPr>
              <a:t> Test</a:t>
            </a:r>
            <a:r>
              <a:rPr sz="2800" b="1" dirty="0">
                <a:solidFill>
                  <a:srgbClr val="131E37"/>
                </a:solidFill>
                <a:latin typeface="Aptos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98448"/>
            <a:ext cx="1033272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 err="1">
                <a:solidFill>
                  <a:srgbClr val="646E80"/>
                </a:solidFill>
                <a:latin typeface="Aptos"/>
              </a:rPr>
              <a:t>LiD</a:t>
            </a:r>
            <a:r>
              <a:rPr sz="1500" b="0" dirty="0">
                <a:solidFill>
                  <a:srgbClr val="646E80"/>
                </a:solidFill>
                <a:latin typeface="Aptos"/>
              </a:rPr>
              <a:t> is the standardized orientation-course test covering knowledge of Germany's </a:t>
            </a:r>
            <a:r>
              <a:rPr sz="1500" b="1" dirty="0">
                <a:solidFill>
                  <a:srgbClr val="646E80"/>
                </a:solidFill>
                <a:latin typeface="Aptos"/>
              </a:rPr>
              <a:t>legal</a:t>
            </a:r>
            <a:r>
              <a:rPr sz="1500" b="0" dirty="0">
                <a:solidFill>
                  <a:srgbClr val="646E80"/>
                </a:solidFill>
                <a:latin typeface="Aptos"/>
              </a:rPr>
              <a:t> and </a:t>
            </a:r>
            <a:r>
              <a:rPr sz="1500" b="1" dirty="0">
                <a:solidFill>
                  <a:srgbClr val="646E80"/>
                </a:solidFill>
                <a:latin typeface="Aptos"/>
              </a:rPr>
              <a:t>social</a:t>
            </a:r>
            <a:r>
              <a:rPr sz="1500" b="0" dirty="0">
                <a:solidFill>
                  <a:srgbClr val="646E80"/>
                </a:solidFill>
                <a:latin typeface="Aptos"/>
              </a:rPr>
              <a:t> order and everyday life.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2037644"/>
            <a:ext cx="3520440" cy="2368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5880" y="2203704"/>
            <a:ext cx="256032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232D41"/>
                </a:solidFill>
                <a:latin typeface="Aptos"/>
              </a:rPr>
              <a:t>Orientation </a:t>
            </a:r>
            <a:r>
              <a:rPr lang="de-DE" sz="1700" b="1" dirty="0">
                <a:solidFill>
                  <a:srgbClr val="232D41"/>
                </a:solidFill>
                <a:latin typeface="Aptos"/>
              </a:rPr>
              <a:t>C</a:t>
            </a:r>
            <a:r>
              <a:rPr sz="1700" b="1" dirty="0" err="1">
                <a:solidFill>
                  <a:srgbClr val="232D41"/>
                </a:solidFill>
                <a:latin typeface="Aptos"/>
              </a:rPr>
              <a:t>ourse</a:t>
            </a:r>
            <a:endParaRPr sz="1700" b="1" dirty="0">
              <a:solidFill>
                <a:srgbClr val="232D4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9658" y="3647311"/>
            <a:ext cx="3452764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646E80"/>
                </a:solidFill>
                <a:latin typeface="Aptos"/>
              </a:rPr>
              <a:t>The </a:t>
            </a:r>
            <a:r>
              <a:rPr sz="1250" b="0" dirty="0" err="1">
                <a:solidFill>
                  <a:srgbClr val="646E80"/>
                </a:solidFill>
                <a:latin typeface="Aptos"/>
              </a:rPr>
              <a:t>LiD</a:t>
            </a:r>
            <a:r>
              <a:rPr sz="1250" b="0" dirty="0">
                <a:solidFill>
                  <a:srgbClr val="646E80"/>
                </a:solidFill>
                <a:latin typeface="Aptos"/>
              </a:rPr>
              <a:t> test is taken at the end of the orientation course.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0428" y="2057400"/>
            <a:ext cx="3520440" cy="23485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92116" y="2217364"/>
            <a:ext cx="256032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232D41"/>
                </a:solidFill>
                <a:latin typeface="Aptos"/>
              </a:rPr>
              <a:t>Citizenship </a:t>
            </a:r>
            <a:r>
              <a:rPr lang="de-DE" sz="1700" b="1" dirty="0">
                <a:solidFill>
                  <a:srgbClr val="232D41"/>
                </a:solidFill>
                <a:latin typeface="Aptos"/>
              </a:rPr>
              <a:t>K</a:t>
            </a:r>
            <a:r>
              <a:rPr sz="1700" b="1" dirty="0" err="1">
                <a:solidFill>
                  <a:srgbClr val="232D41"/>
                </a:solidFill>
                <a:latin typeface="Aptos"/>
              </a:rPr>
              <a:t>nowledge</a:t>
            </a:r>
            <a:endParaRPr sz="1700" b="1" dirty="0">
              <a:solidFill>
                <a:srgbClr val="232D41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21030" y="3617280"/>
            <a:ext cx="3452764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646E80"/>
                </a:solidFill>
                <a:latin typeface="Aptos"/>
              </a:rPr>
              <a:t>With at least 17/33 correct, </a:t>
            </a:r>
            <a:r>
              <a:rPr sz="1250" b="0" dirty="0" err="1">
                <a:solidFill>
                  <a:srgbClr val="646E80"/>
                </a:solidFill>
                <a:latin typeface="Aptos"/>
              </a:rPr>
              <a:t>LiD</a:t>
            </a:r>
            <a:r>
              <a:rPr sz="1250" b="0" dirty="0">
                <a:solidFill>
                  <a:srgbClr val="646E80"/>
                </a:solidFill>
                <a:latin typeface="Aptos"/>
              </a:rPr>
              <a:t> can provide the required knowledge certificate for naturalization.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057400"/>
            <a:ext cx="3520440" cy="23485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12556" y="2225274"/>
            <a:ext cx="256032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232D41"/>
                </a:solidFill>
                <a:latin typeface="Aptos"/>
              </a:rPr>
              <a:t>Same </a:t>
            </a:r>
            <a:r>
              <a:rPr lang="de-DE" sz="1700" b="1" dirty="0">
                <a:solidFill>
                  <a:srgbClr val="232D41"/>
                </a:solidFill>
                <a:latin typeface="Aptos"/>
              </a:rPr>
              <a:t>Q</a:t>
            </a:r>
            <a:r>
              <a:rPr sz="1700" b="1" dirty="0" err="1">
                <a:solidFill>
                  <a:srgbClr val="232D41"/>
                </a:solidFill>
                <a:latin typeface="Aptos"/>
              </a:rPr>
              <a:t>uestion</a:t>
            </a:r>
            <a:r>
              <a:rPr sz="1700" b="1" dirty="0">
                <a:solidFill>
                  <a:srgbClr val="232D41"/>
                </a:solidFill>
                <a:latin typeface="Aptos"/>
              </a:rPr>
              <a:t> </a:t>
            </a:r>
            <a:r>
              <a:rPr lang="de-DE" sz="1700" b="1" dirty="0">
                <a:solidFill>
                  <a:srgbClr val="232D41"/>
                </a:solidFill>
                <a:latin typeface="Aptos"/>
              </a:rPr>
              <a:t>W</a:t>
            </a:r>
            <a:r>
              <a:rPr sz="1700" b="1" dirty="0" err="1">
                <a:solidFill>
                  <a:srgbClr val="232D41"/>
                </a:solidFill>
                <a:latin typeface="Aptos"/>
              </a:rPr>
              <a:t>orld</a:t>
            </a:r>
            <a:endParaRPr sz="1700" b="1" dirty="0">
              <a:solidFill>
                <a:srgbClr val="232D41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38349" y="3713460"/>
            <a:ext cx="3305443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646E80"/>
                </a:solidFill>
                <a:latin typeface="Aptos"/>
              </a:rPr>
              <a:t>The </a:t>
            </a:r>
            <a:r>
              <a:rPr sz="1250" b="0" dirty="0" err="1">
                <a:solidFill>
                  <a:srgbClr val="646E80"/>
                </a:solidFill>
                <a:latin typeface="Aptos"/>
              </a:rPr>
              <a:t>LiD</a:t>
            </a:r>
            <a:r>
              <a:rPr sz="1250" b="0" dirty="0">
                <a:solidFill>
                  <a:srgbClr val="646E80"/>
                </a:solidFill>
                <a:latin typeface="Aptos"/>
              </a:rPr>
              <a:t> and </a:t>
            </a:r>
            <a:r>
              <a:rPr sz="1250" b="0" dirty="0" err="1">
                <a:solidFill>
                  <a:srgbClr val="646E80"/>
                </a:solidFill>
                <a:latin typeface="Aptos"/>
              </a:rPr>
              <a:t>Einbürgerungstest</a:t>
            </a:r>
            <a:r>
              <a:rPr sz="1250" b="0" dirty="0">
                <a:solidFill>
                  <a:srgbClr val="646E80"/>
                </a:solidFill>
                <a:latin typeface="Aptos"/>
              </a:rPr>
              <a:t> use the same official catalogue of 310 questions.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4690872"/>
            <a:ext cx="10945368" cy="1691640"/>
          </a:xfrm>
          <a:prstGeom prst="roundRect">
            <a:avLst/>
          </a:prstGeom>
          <a:solidFill>
            <a:srgbClr val="F1F3FA"/>
          </a:solidFill>
          <a:ln w="12700">
            <a:solidFill>
              <a:srgbClr val="DD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8604" y="500634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131E37"/>
                </a:solidFill>
                <a:latin typeface="Aptos"/>
              </a:rPr>
              <a:t>German civic knowledge + everyday life + history + society + democracy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824728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646E80"/>
                </a:solidFill>
                <a:latin typeface="Aptos"/>
              </a:rPr>
              <a:t>Not just memorizing answers — understanding what the questions are asking.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6E80"/>
                </a:solidFill>
                <a:latin typeface="Aptos"/>
              </a:rPr>
              <a:t>Leben in Deutschland • Introductory Series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510528"/>
            <a:ext cx="3337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F5BC2"/>
                </a:solidFill>
                <a:latin typeface="Aptos"/>
              </a:rPr>
              <a:t>ranjigt.github.io/lid-trainer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2CBFB61-5191-BC8F-65B5-0045379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161" y="2417188"/>
            <a:ext cx="1259950" cy="133994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DCD961C-37D9-52B6-0C76-846B7A807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690" y="2103727"/>
            <a:ext cx="1737916" cy="184826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F572FF1-140D-B434-22BA-73C6097E0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7182" y="2148617"/>
            <a:ext cx="1763987" cy="187598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957F4C4-5324-5190-9D0F-F23AA55A59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5960" y="4568664"/>
            <a:ext cx="1855442" cy="19732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/>
      <p:bldP spid="12" grpId="0" animBg="1"/>
      <p:bldP spid="15" grpId="0"/>
      <p:bldP spid="16" grpId="0"/>
      <p:bldP spid="17" grpId="0" animBg="1"/>
      <p:bldP spid="20" grpId="0"/>
      <p:bldP spid="21" grpId="0"/>
      <p:bldP spid="22" grpId="0" animBg="1"/>
      <p:bldP spid="24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0895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1828" y="646480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46E80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10895"/>
            <a:ext cx="67665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31E37"/>
                </a:solidFill>
                <a:latin typeface="Aptos"/>
              </a:rPr>
              <a:t>Who </a:t>
            </a:r>
            <a:r>
              <a:rPr lang="de-DE" sz="2800" b="1" dirty="0">
                <a:solidFill>
                  <a:srgbClr val="131E37"/>
                </a:solidFill>
                <a:latin typeface="Aptos"/>
              </a:rPr>
              <a:t>t</a:t>
            </a:r>
            <a:r>
              <a:rPr sz="2800" b="1" dirty="0" err="1">
                <a:solidFill>
                  <a:srgbClr val="131E37"/>
                </a:solidFill>
                <a:latin typeface="Aptos"/>
              </a:rPr>
              <a:t>akes</a:t>
            </a:r>
            <a:r>
              <a:rPr sz="2800" b="1" dirty="0">
                <a:solidFill>
                  <a:srgbClr val="131E37"/>
                </a:solidFill>
                <a:latin typeface="Aptos"/>
              </a:rPr>
              <a:t> the </a:t>
            </a:r>
            <a:r>
              <a:rPr lang="de-DE" sz="2800" b="1" dirty="0">
                <a:solidFill>
                  <a:srgbClr val="131E37"/>
                </a:solidFill>
                <a:latin typeface="Aptos"/>
              </a:rPr>
              <a:t>T</a:t>
            </a:r>
            <a:r>
              <a:rPr sz="2800" b="1" dirty="0">
                <a:solidFill>
                  <a:srgbClr val="131E37"/>
                </a:solidFill>
                <a:latin typeface="Aptos"/>
              </a:rPr>
              <a:t>est?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80160"/>
            <a:ext cx="969264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646E80"/>
                </a:solidFill>
                <a:latin typeface="Aptos"/>
              </a:rPr>
              <a:t>The audience is broader than people applying for </a:t>
            </a:r>
            <a:r>
              <a:rPr sz="1500" b="1" dirty="0">
                <a:solidFill>
                  <a:srgbClr val="646E80"/>
                </a:solidFill>
                <a:latin typeface="Aptos"/>
              </a:rPr>
              <a:t>citizenship</a:t>
            </a:r>
            <a:r>
              <a:rPr sz="1500" b="0" dirty="0">
                <a:solidFill>
                  <a:srgbClr val="646E80"/>
                </a:solidFill>
                <a:latin typeface="Aptos"/>
              </a:rPr>
              <a:t> tomorrow.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074920" cy="1298448"/>
          </a:xfrm>
          <a:prstGeom prst="roundRect">
            <a:avLst/>
          </a:prstGeom>
          <a:solidFill>
            <a:srgbClr val="F8F9FD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27048" y="2167128"/>
            <a:ext cx="38862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131E37"/>
                </a:solidFill>
                <a:latin typeface="Aptos"/>
              </a:rPr>
              <a:t>Newcomers</a:t>
            </a:r>
            <a:r>
              <a:rPr lang="de-DE" sz="1700" b="1" dirty="0">
                <a:solidFill>
                  <a:srgbClr val="131E37"/>
                </a:solidFill>
                <a:latin typeface="Aptos"/>
              </a:rPr>
              <a:t> in Germany</a:t>
            </a:r>
            <a:endParaRPr sz="1700" b="1" dirty="0">
              <a:solidFill>
                <a:srgbClr val="131E37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27048" y="2569464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dirty="0">
                <a:solidFill>
                  <a:srgbClr val="646E80"/>
                </a:solidFill>
                <a:latin typeface="Aptos"/>
              </a:rPr>
              <a:t>People completing an integration / orientation course.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7" y="1965960"/>
            <a:ext cx="5074920" cy="1298448"/>
          </a:xfrm>
          <a:prstGeom prst="roundRect">
            <a:avLst/>
          </a:prstGeom>
          <a:solidFill>
            <a:srgbClr val="F8F9FD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77100" y="2176252"/>
            <a:ext cx="38862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131E37"/>
                </a:solidFill>
                <a:latin typeface="Aptos"/>
              </a:rPr>
              <a:t>Citizenship</a:t>
            </a:r>
            <a:r>
              <a:rPr lang="de-DE" sz="1700" b="1" dirty="0">
                <a:solidFill>
                  <a:srgbClr val="131E37"/>
                </a:solidFill>
                <a:latin typeface="Aptos"/>
              </a:rPr>
              <a:t>/PR</a:t>
            </a:r>
            <a:r>
              <a:rPr sz="1700" b="1" dirty="0">
                <a:solidFill>
                  <a:srgbClr val="131E37"/>
                </a:solidFill>
                <a:latin typeface="Aptos"/>
              </a:rPr>
              <a:t> applicants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2368" y="2581296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646E80"/>
                </a:solidFill>
                <a:latin typeface="Aptos"/>
              </a:rPr>
              <a:t>People who need proof of knowledge for naturalisation.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66160"/>
            <a:ext cx="5074920" cy="1298448"/>
          </a:xfrm>
          <a:prstGeom prst="roundRect">
            <a:avLst/>
          </a:prstGeom>
          <a:solidFill>
            <a:srgbClr val="F8F9FD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27048" y="3767328"/>
            <a:ext cx="38862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131E37"/>
                </a:solidFill>
                <a:latin typeface="Aptos"/>
              </a:rPr>
              <a:t>Repeat </a:t>
            </a:r>
            <a:r>
              <a:rPr lang="de-DE" sz="1700" b="1" dirty="0">
                <a:solidFill>
                  <a:srgbClr val="131E37"/>
                </a:solidFill>
                <a:latin typeface="Aptos"/>
              </a:rPr>
              <a:t>L</a:t>
            </a:r>
            <a:r>
              <a:rPr sz="1700" b="1" dirty="0">
                <a:solidFill>
                  <a:srgbClr val="131E37"/>
                </a:solidFill>
                <a:latin typeface="Aptos"/>
              </a:rPr>
              <a:t>earners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169663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dirty="0">
                <a:solidFill>
                  <a:srgbClr val="646E80"/>
                </a:solidFill>
                <a:latin typeface="Aptos"/>
              </a:rPr>
              <a:t>People who want another attempt or more confidence.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3566160"/>
            <a:ext cx="5074920" cy="1298448"/>
          </a:xfrm>
          <a:prstGeom prst="roundRect">
            <a:avLst/>
          </a:prstGeom>
          <a:solidFill>
            <a:srgbClr val="F8F9FD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92368" y="3776471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131E37"/>
                </a:solidFill>
                <a:latin typeface="Aptos"/>
              </a:rPr>
              <a:t>Self-learners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180461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dirty="0">
                <a:solidFill>
                  <a:srgbClr val="646E80"/>
                </a:solidFill>
                <a:latin typeface="Aptos"/>
              </a:rPr>
              <a:t>Anyone who wants to understand Germany's society, rights and history.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257800"/>
            <a:ext cx="10652760" cy="658368"/>
          </a:xfrm>
          <a:prstGeom prst="roundRect">
            <a:avLst/>
          </a:prstGeom>
          <a:solidFill>
            <a:srgbClr val="131E37"/>
          </a:solidFill>
          <a:ln w="12700">
            <a:solidFill>
              <a:srgbClr val="13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431536"/>
            <a:ext cx="10104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The goal of this series: make preparation structured, visual and less intimidating.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6E80"/>
                </a:solidFill>
                <a:latin typeface="Aptos"/>
              </a:rPr>
              <a:t>Leben in Deutschland • Introductory Series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510528"/>
            <a:ext cx="3337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F5BC2"/>
                </a:solidFill>
                <a:latin typeface="Aptos"/>
              </a:rPr>
              <a:t>ranjigt.github.io/lid-trainer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9F5D3313-DED6-ACDE-A588-8FD7F7E8D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97" y="1965960"/>
            <a:ext cx="1074476" cy="114269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4E7DD21-B0FF-001B-1FB3-201B38FE9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153" y="2017061"/>
            <a:ext cx="1172878" cy="124734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AB37453-1881-1F06-928A-E502C21B7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54522"/>
            <a:ext cx="1245146" cy="132420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D3D4F81C-CCAD-33B3-CA6E-5E8EBD8847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2690" y="3463695"/>
            <a:ext cx="1172878" cy="12473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0" grpId="0"/>
      <p:bldP spid="11" grpId="0"/>
      <p:bldP spid="12" grpId="0" animBg="1"/>
      <p:bldP spid="15" grpId="0"/>
      <p:bldP spid="16" grpId="0"/>
      <p:bldP spid="17" grpId="0" animBg="1"/>
      <p:bldP spid="20" grpId="0"/>
      <p:bldP spid="21" grpId="0"/>
      <p:bldP spid="22" grpId="0" animBg="1"/>
      <p:bldP spid="25" grpId="0"/>
      <p:bldP spid="26" grpId="0"/>
      <p:bldP spid="27" grpId="0" animBg="1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FE32C-0587-AC6F-AE54-D4550965E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7F85A1-CF8F-F705-E5EB-24394F41005C}"/>
              </a:ext>
            </a:extLst>
          </p:cNvPr>
          <p:cNvSpPr/>
          <p:nvPr/>
        </p:nvSpPr>
        <p:spPr>
          <a:xfrm>
            <a:off x="0" y="310895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8CF84F-C719-B117-395A-0133A50F246B}"/>
              </a:ext>
            </a:extLst>
          </p:cNvPr>
          <p:cNvSpPr txBox="1"/>
          <p:nvPr/>
        </p:nvSpPr>
        <p:spPr>
          <a:xfrm>
            <a:off x="5593079" y="6547105"/>
            <a:ext cx="5029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dirty="0">
                <a:solidFill>
                  <a:srgbClr val="646E80"/>
                </a:solidFill>
                <a:latin typeface="Aptos"/>
              </a:rPr>
              <a:t>0</a:t>
            </a:r>
            <a:r>
              <a:rPr lang="de-DE" sz="1000" b="1" dirty="0">
                <a:solidFill>
                  <a:srgbClr val="646E80"/>
                </a:solidFill>
                <a:latin typeface="Aptos"/>
              </a:rPr>
              <a:t>4</a:t>
            </a:r>
            <a:endParaRPr sz="1000" b="1" dirty="0">
              <a:solidFill>
                <a:srgbClr val="646E8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44271C-E710-3228-7CD1-0A4A249271DE}"/>
              </a:ext>
            </a:extLst>
          </p:cNvPr>
          <p:cNvSpPr txBox="1"/>
          <p:nvPr/>
        </p:nvSpPr>
        <p:spPr>
          <a:xfrm>
            <a:off x="612648" y="310895"/>
            <a:ext cx="67665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31E37"/>
                </a:solidFill>
                <a:latin typeface="Aptos"/>
              </a:rPr>
              <a:t>Who </a:t>
            </a:r>
            <a:r>
              <a:rPr lang="de-DE" sz="2800" b="1" dirty="0" err="1">
                <a:solidFill>
                  <a:srgbClr val="131E37"/>
                </a:solidFill>
                <a:latin typeface="Aptos"/>
              </a:rPr>
              <a:t>conducts</a:t>
            </a:r>
            <a:r>
              <a:rPr sz="2800" b="1" dirty="0">
                <a:solidFill>
                  <a:srgbClr val="131E37"/>
                </a:solidFill>
                <a:latin typeface="Aptos"/>
              </a:rPr>
              <a:t> the </a:t>
            </a:r>
            <a:r>
              <a:rPr lang="de-DE" sz="2800" b="1" dirty="0">
                <a:solidFill>
                  <a:srgbClr val="131E37"/>
                </a:solidFill>
                <a:latin typeface="Aptos"/>
              </a:rPr>
              <a:t>T</a:t>
            </a:r>
            <a:r>
              <a:rPr sz="2800" b="1" dirty="0">
                <a:solidFill>
                  <a:srgbClr val="131E37"/>
                </a:solidFill>
                <a:latin typeface="Aptos"/>
              </a:rPr>
              <a:t>est?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BC063E-9AA1-D435-477C-6FC03542A3DF}"/>
              </a:ext>
            </a:extLst>
          </p:cNvPr>
          <p:cNvSpPr txBox="1"/>
          <p:nvPr/>
        </p:nvSpPr>
        <p:spPr>
          <a:xfrm>
            <a:off x="612648" y="965518"/>
            <a:ext cx="969264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646E80"/>
                </a:solidFill>
                <a:latin typeface="Aptos"/>
              </a:rPr>
              <a:t>The </a:t>
            </a:r>
            <a:r>
              <a:rPr lang="de-DE" sz="1500" b="1" dirty="0">
                <a:solidFill>
                  <a:srgbClr val="646E80"/>
                </a:solidFill>
                <a:latin typeface="Aptos"/>
              </a:rPr>
              <a:t>Federal Office for Migration and </a:t>
            </a:r>
            <a:r>
              <a:rPr lang="de-DE" sz="1500" b="1" dirty="0" err="1">
                <a:solidFill>
                  <a:srgbClr val="646E80"/>
                </a:solidFill>
                <a:latin typeface="Aptos"/>
              </a:rPr>
              <a:t>Refugees</a:t>
            </a:r>
            <a:r>
              <a:rPr lang="de-DE" sz="1500" b="1" dirty="0">
                <a:solidFill>
                  <a:srgbClr val="646E80"/>
                </a:solidFill>
                <a:latin typeface="Aptos"/>
              </a:rPr>
              <a:t> (Bundesamt für Migration und Flüchtlinge - BAMF) </a:t>
            </a:r>
            <a:r>
              <a:rPr lang="de-DE" sz="1500" dirty="0" err="1">
                <a:solidFill>
                  <a:srgbClr val="646E80"/>
                </a:solidFill>
                <a:latin typeface="Aptos"/>
              </a:rPr>
              <a:t>is</a:t>
            </a:r>
            <a:r>
              <a:rPr lang="de-DE" sz="1500" dirty="0">
                <a:solidFill>
                  <a:srgbClr val="646E80"/>
                </a:solidFill>
                <a:latin typeface="Aptos"/>
              </a:rPr>
              <a:t> the </a:t>
            </a:r>
            <a:r>
              <a:rPr lang="de-DE" sz="1500" dirty="0" err="1">
                <a:solidFill>
                  <a:srgbClr val="646E80"/>
                </a:solidFill>
                <a:latin typeface="Aptos"/>
              </a:rPr>
              <a:t>official</a:t>
            </a:r>
            <a:r>
              <a:rPr lang="de-DE" sz="1500" dirty="0">
                <a:solidFill>
                  <a:srgbClr val="646E80"/>
                </a:solidFill>
                <a:latin typeface="Aptos"/>
              </a:rPr>
              <a:t> </a:t>
            </a:r>
            <a:r>
              <a:rPr lang="de-DE" sz="1500" dirty="0" err="1">
                <a:solidFill>
                  <a:srgbClr val="646E80"/>
                </a:solidFill>
                <a:latin typeface="Aptos"/>
              </a:rPr>
              <a:t>authority</a:t>
            </a:r>
            <a:r>
              <a:rPr lang="de-DE" sz="1500" dirty="0">
                <a:solidFill>
                  <a:srgbClr val="646E80"/>
                </a:solidFill>
                <a:latin typeface="Aptos"/>
              </a:rPr>
              <a:t> in Germany </a:t>
            </a:r>
            <a:r>
              <a:rPr lang="de-DE" sz="1500" dirty="0" err="1">
                <a:solidFill>
                  <a:srgbClr val="646E80"/>
                </a:solidFill>
                <a:latin typeface="Aptos"/>
              </a:rPr>
              <a:t>responsible</a:t>
            </a:r>
            <a:r>
              <a:rPr lang="de-DE" sz="1500" dirty="0">
                <a:solidFill>
                  <a:srgbClr val="646E80"/>
                </a:solidFill>
                <a:latin typeface="Aptos"/>
              </a:rPr>
              <a:t> for the </a:t>
            </a:r>
            <a:r>
              <a:rPr lang="de-DE" sz="1500" dirty="0" err="1">
                <a:solidFill>
                  <a:srgbClr val="646E80"/>
                </a:solidFill>
                <a:latin typeface="Aptos"/>
              </a:rPr>
              <a:t>Einbügerungstest</a:t>
            </a:r>
            <a:r>
              <a:rPr lang="de-DE" sz="1500" dirty="0">
                <a:solidFill>
                  <a:srgbClr val="646E80"/>
                </a:solidFill>
                <a:latin typeface="Aptos"/>
              </a:rPr>
              <a:t> (German Citizenship </a:t>
            </a:r>
            <a:r>
              <a:rPr lang="de-DE" sz="1500" dirty="0" err="1">
                <a:solidFill>
                  <a:srgbClr val="646E80"/>
                </a:solidFill>
                <a:latin typeface="Aptos"/>
              </a:rPr>
              <a:t>test</a:t>
            </a:r>
            <a:r>
              <a:rPr lang="de-DE" sz="1500" dirty="0">
                <a:solidFill>
                  <a:srgbClr val="646E80"/>
                </a:solidFill>
                <a:latin typeface="Aptos"/>
              </a:rPr>
              <a:t>).</a:t>
            </a:r>
            <a:endParaRPr sz="1500" b="0" dirty="0">
              <a:solidFill>
                <a:srgbClr val="646E80"/>
              </a:solidFill>
              <a:latin typeface="Apto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5734EB-DA1F-624D-18CB-D6132CA2BC59}"/>
              </a:ext>
            </a:extLst>
          </p:cNvPr>
          <p:cNvSpPr txBox="1"/>
          <p:nvPr/>
        </p:nvSpPr>
        <p:spPr>
          <a:xfrm>
            <a:off x="914400" y="5431536"/>
            <a:ext cx="10104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The goal of this series: make preparation structured, visual and less intimidating.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5270EC-CEEC-D946-F659-367039399627}"/>
              </a:ext>
            </a:extLst>
          </p:cNvPr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6E80"/>
                </a:solidFill>
                <a:latin typeface="Aptos"/>
              </a:rPr>
              <a:t>Leben in Deutschland • Introductory Series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AB1BA2-DD06-1E78-D15C-1A656321B83C}"/>
              </a:ext>
            </a:extLst>
          </p:cNvPr>
          <p:cNvSpPr txBox="1"/>
          <p:nvPr/>
        </p:nvSpPr>
        <p:spPr>
          <a:xfrm>
            <a:off x="8321040" y="6510528"/>
            <a:ext cx="3337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F5BC2"/>
                </a:solidFill>
                <a:latin typeface="Aptos"/>
              </a:rPr>
              <a:t>ranjigt.github.io/lid-trainer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F851ED4-68F1-697A-67F1-4B08ADFAA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212" y="585215"/>
            <a:ext cx="2956725" cy="2055790"/>
          </a:xfrm>
          <a:prstGeom prst="rect">
            <a:avLst/>
          </a:prstGeom>
        </p:spPr>
      </p:pic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E401C73-6EC2-04E0-30AC-69F0B186E4DB}"/>
              </a:ext>
            </a:extLst>
          </p:cNvPr>
          <p:cNvSpPr/>
          <p:nvPr/>
        </p:nvSpPr>
        <p:spPr>
          <a:xfrm>
            <a:off x="658368" y="1965960"/>
            <a:ext cx="5074920" cy="1298448"/>
          </a:xfrm>
          <a:prstGeom prst="roundRect">
            <a:avLst/>
          </a:prstGeom>
          <a:solidFill>
            <a:srgbClr val="F8F9FD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26EDCA6-7257-D3E6-9705-DC30EDC2A9AB}"/>
              </a:ext>
            </a:extLst>
          </p:cNvPr>
          <p:cNvSpPr/>
          <p:nvPr/>
        </p:nvSpPr>
        <p:spPr>
          <a:xfrm>
            <a:off x="658368" y="3645744"/>
            <a:ext cx="5074920" cy="1298448"/>
          </a:xfrm>
          <a:prstGeom prst="roundRect">
            <a:avLst/>
          </a:prstGeom>
          <a:solidFill>
            <a:srgbClr val="F8F9FD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6E256C6-FC27-48D5-AF7A-0C113388C33B}"/>
              </a:ext>
            </a:extLst>
          </p:cNvPr>
          <p:cNvSpPr/>
          <p:nvPr/>
        </p:nvSpPr>
        <p:spPr>
          <a:xfrm>
            <a:off x="6492240" y="3116492"/>
            <a:ext cx="5074920" cy="1298448"/>
          </a:xfrm>
          <a:prstGeom prst="roundRect">
            <a:avLst/>
          </a:prstGeom>
          <a:solidFill>
            <a:srgbClr val="F8F9FD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BAAE4AD-BEC2-8D8A-5A0D-68AFF86B0F47}"/>
              </a:ext>
            </a:extLst>
          </p:cNvPr>
          <p:cNvSpPr/>
          <p:nvPr/>
        </p:nvSpPr>
        <p:spPr>
          <a:xfrm>
            <a:off x="658368" y="5257800"/>
            <a:ext cx="10652760" cy="658368"/>
          </a:xfrm>
          <a:prstGeom prst="roundRect">
            <a:avLst/>
          </a:prstGeom>
          <a:solidFill>
            <a:srgbClr val="131E37"/>
          </a:solidFill>
          <a:ln w="12700">
            <a:solidFill>
              <a:srgbClr val="13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669521-9807-7775-05DF-5625B4C46DAE}"/>
              </a:ext>
            </a:extLst>
          </p:cNvPr>
          <p:cNvSpPr txBox="1"/>
          <p:nvPr/>
        </p:nvSpPr>
        <p:spPr>
          <a:xfrm>
            <a:off x="932688" y="5448278"/>
            <a:ext cx="10104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de-DE" sz="1400" b="1" dirty="0">
                <a:solidFill>
                  <a:srgbClr val="FFFFFF"/>
                </a:solidFill>
                <a:latin typeface="Aptos"/>
              </a:rPr>
              <a:t>A </a:t>
            </a:r>
            <a:r>
              <a:rPr lang="de-DE" sz="1400" b="1" dirty="0" err="1">
                <a:solidFill>
                  <a:srgbClr val="FFFFFF"/>
                </a:solidFill>
                <a:latin typeface="Aptos"/>
              </a:rPr>
              <a:t>nationwide</a:t>
            </a:r>
            <a:r>
              <a:rPr lang="de-DE" sz="1400" b="1" dirty="0">
                <a:solidFill>
                  <a:srgbClr val="FFFFFF"/>
                </a:solidFill>
                <a:latin typeface="Aptos"/>
              </a:rPr>
              <a:t> </a:t>
            </a:r>
            <a:r>
              <a:rPr lang="de-DE" sz="1400" b="1" dirty="0" err="1">
                <a:solidFill>
                  <a:srgbClr val="FFFFFF"/>
                </a:solidFill>
                <a:latin typeface="Aptos"/>
              </a:rPr>
              <a:t>standardized</a:t>
            </a:r>
            <a:r>
              <a:rPr lang="de-DE" sz="1400" b="1" dirty="0">
                <a:solidFill>
                  <a:srgbClr val="FFFFFF"/>
                </a:solidFill>
                <a:latin typeface="Aptos"/>
              </a:rPr>
              <a:t> </a:t>
            </a:r>
            <a:r>
              <a:rPr lang="de-DE" sz="1400" b="1" dirty="0" err="1">
                <a:solidFill>
                  <a:srgbClr val="FFFFFF"/>
                </a:solidFill>
                <a:latin typeface="Aptos"/>
              </a:rPr>
              <a:t>fee</a:t>
            </a:r>
            <a:r>
              <a:rPr lang="de-DE" sz="1400" b="1" dirty="0">
                <a:solidFill>
                  <a:srgbClr val="FFFFFF"/>
                </a:solidFill>
                <a:latin typeface="Aptos"/>
              </a:rPr>
              <a:t> of 25 EUR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3A44A8-1E95-D0C2-B089-3C6FDBB374B3}"/>
              </a:ext>
            </a:extLst>
          </p:cNvPr>
          <p:cNvSpPr txBox="1"/>
          <p:nvPr/>
        </p:nvSpPr>
        <p:spPr>
          <a:xfrm>
            <a:off x="1672967" y="2130434"/>
            <a:ext cx="38862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700" b="1" dirty="0">
                <a:solidFill>
                  <a:srgbClr val="131E37"/>
                </a:solidFill>
                <a:latin typeface="Aptos"/>
              </a:rPr>
              <a:t>Volkshochschulen (VHS)</a:t>
            </a:r>
            <a:endParaRPr sz="1700" b="1" dirty="0">
              <a:solidFill>
                <a:srgbClr val="131E37"/>
              </a:solidFill>
              <a:latin typeface="Apto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0DE530-1478-22D2-7E46-8761CA74A7C6}"/>
              </a:ext>
            </a:extLst>
          </p:cNvPr>
          <p:cNvSpPr txBox="1"/>
          <p:nvPr/>
        </p:nvSpPr>
        <p:spPr>
          <a:xfrm>
            <a:off x="7424928" y="3211686"/>
            <a:ext cx="38862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700" b="1" dirty="0">
                <a:solidFill>
                  <a:srgbClr val="131E37"/>
                </a:solidFill>
                <a:latin typeface="Aptos"/>
              </a:rPr>
              <a:t>German </a:t>
            </a:r>
            <a:r>
              <a:rPr lang="de-DE" sz="1700" b="1" dirty="0" err="1">
                <a:solidFill>
                  <a:srgbClr val="131E37"/>
                </a:solidFill>
                <a:latin typeface="Aptos"/>
              </a:rPr>
              <a:t>Embassies</a:t>
            </a:r>
            <a:r>
              <a:rPr lang="de-DE" sz="1700" b="1" dirty="0">
                <a:solidFill>
                  <a:srgbClr val="131E37"/>
                </a:solidFill>
                <a:latin typeface="Aptos"/>
              </a:rPr>
              <a:t> </a:t>
            </a:r>
            <a:r>
              <a:rPr lang="de-DE" sz="1700" b="1" dirty="0" err="1">
                <a:solidFill>
                  <a:srgbClr val="131E37"/>
                </a:solidFill>
                <a:latin typeface="Aptos"/>
              </a:rPr>
              <a:t>or</a:t>
            </a:r>
            <a:r>
              <a:rPr lang="de-DE" sz="1700" b="1" dirty="0">
                <a:solidFill>
                  <a:srgbClr val="131E37"/>
                </a:solidFill>
                <a:latin typeface="Aptos"/>
              </a:rPr>
              <a:t> </a:t>
            </a:r>
            <a:r>
              <a:rPr lang="de-DE" sz="1700" b="1" dirty="0" err="1">
                <a:solidFill>
                  <a:srgbClr val="131E37"/>
                </a:solidFill>
                <a:latin typeface="Aptos"/>
              </a:rPr>
              <a:t>Consulates</a:t>
            </a:r>
            <a:endParaRPr sz="1700" b="1" dirty="0">
              <a:solidFill>
                <a:srgbClr val="131E37"/>
              </a:solidFill>
              <a:latin typeface="Apto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8C6D8F-A039-B1FF-A799-37E3EBD1E6C1}"/>
              </a:ext>
            </a:extLst>
          </p:cNvPr>
          <p:cNvSpPr txBox="1"/>
          <p:nvPr/>
        </p:nvSpPr>
        <p:spPr>
          <a:xfrm>
            <a:off x="1721997" y="3737104"/>
            <a:ext cx="38862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700" b="1" dirty="0" err="1">
                <a:solidFill>
                  <a:srgbClr val="131E37"/>
                </a:solidFill>
                <a:latin typeface="Aptos"/>
              </a:rPr>
              <a:t>Licensed</a:t>
            </a:r>
            <a:r>
              <a:rPr lang="de-DE" sz="1700" b="1" dirty="0">
                <a:solidFill>
                  <a:srgbClr val="131E37"/>
                </a:solidFill>
                <a:latin typeface="Aptos"/>
              </a:rPr>
              <a:t> Language Schools</a:t>
            </a:r>
            <a:endParaRPr sz="1700" b="1" dirty="0">
              <a:solidFill>
                <a:srgbClr val="131E37"/>
              </a:solidFill>
              <a:latin typeface="Apto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A12E4D9-612E-132D-7976-3A8ECE780A5A}"/>
              </a:ext>
            </a:extLst>
          </p:cNvPr>
          <p:cNvSpPr txBox="1"/>
          <p:nvPr/>
        </p:nvSpPr>
        <p:spPr>
          <a:xfrm>
            <a:off x="1695827" y="2580546"/>
            <a:ext cx="3840480" cy="2739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180" b="0" dirty="0">
                <a:solidFill>
                  <a:srgbClr val="646E80"/>
                </a:solidFill>
                <a:latin typeface="Aptos"/>
              </a:rPr>
              <a:t>Local </a:t>
            </a:r>
            <a:r>
              <a:rPr lang="de-DE" sz="1180" b="0" dirty="0" err="1">
                <a:solidFill>
                  <a:srgbClr val="646E80"/>
                </a:solidFill>
                <a:latin typeface="Aptos"/>
              </a:rPr>
              <a:t>community</a:t>
            </a:r>
            <a:r>
              <a:rPr lang="de-DE" sz="1180" b="0" dirty="0">
                <a:solidFill>
                  <a:srgbClr val="646E80"/>
                </a:solidFill>
                <a:latin typeface="Aptos"/>
              </a:rPr>
              <a:t> adult </a:t>
            </a:r>
            <a:r>
              <a:rPr lang="de-DE" sz="1180" b="0" dirty="0" err="1">
                <a:solidFill>
                  <a:srgbClr val="646E80"/>
                </a:solidFill>
                <a:latin typeface="Aptos"/>
              </a:rPr>
              <a:t>education</a:t>
            </a:r>
            <a:r>
              <a:rPr lang="de-DE" sz="1180" b="0" dirty="0">
                <a:solidFill>
                  <a:srgbClr val="646E80"/>
                </a:solidFill>
                <a:latin typeface="Aptos"/>
              </a:rPr>
              <a:t> </a:t>
            </a:r>
            <a:r>
              <a:rPr lang="de-DE" sz="1180" b="0" dirty="0" err="1">
                <a:solidFill>
                  <a:srgbClr val="646E80"/>
                </a:solidFill>
                <a:latin typeface="Aptos"/>
              </a:rPr>
              <a:t>centers</a:t>
            </a:r>
            <a:r>
              <a:rPr lang="de-DE" sz="1180" b="0" dirty="0">
                <a:solidFill>
                  <a:srgbClr val="646E80"/>
                </a:solidFill>
                <a:latin typeface="Aptos"/>
              </a:rPr>
              <a:t>.</a:t>
            </a:r>
            <a:endParaRPr sz="1180" b="0" dirty="0">
              <a:solidFill>
                <a:srgbClr val="646E80"/>
              </a:solidFill>
              <a:latin typeface="Apto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25CD26B-3581-975D-F44D-F9DADFEA15E9}"/>
              </a:ext>
            </a:extLst>
          </p:cNvPr>
          <p:cNvSpPr txBox="1"/>
          <p:nvPr/>
        </p:nvSpPr>
        <p:spPr>
          <a:xfrm>
            <a:off x="1754170" y="4277979"/>
            <a:ext cx="3840480" cy="2739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180" b="0" dirty="0">
                <a:solidFill>
                  <a:srgbClr val="646E80"/>
                </a:solidFill>
                <a:latin typeface="Aptos"/>
              </a:rPr>
              <a:t>Private </a:t>
            </a:r>
            <a:r>
              <a:rPr lang="de-DE" sz="1180" b="0" dirty="0" err="1">
                <a:solidFill>
                  <a:srgbClr val="646E80"/>
                </a:solidFill>
                <a:latin typeface="Aptos"/>
              </a:rPr>
              <a:t>schools</a:t>
            </a:r>
            <a:r>
              <a:rPr lang="de-DE" sz="1180" b="0" dirty="0">
                <a:solidFill>
                  <a:srgbClr val="646E80"/>
                </a:solidFill>
                <a:latin typeface="Aptos"/>
              </a:rPr>
              <a:t> </a:t>
            </a:r>
            <a:r>
              <a:rPr lang="de-DE" sz="1180" b="0" dirty="0" err="1">
                <a:solidFill>
                  <a:srgbClr val="646E80"/>
                </a:solidFill>
                <a:latin typeface="Aptos"/>
              </a:rPr>
              <a:t>or</a:t>
            </a:r>
            <a:r>
              <a:rPr lang="de-DE" sz="1180" b="0" dirty="0">
                <a:solidFill>
                  <a:srgbClr val="646E80"/>
                </a:solidFill>
                <a:latin typeface="Aptos"/>
              </a:rPr>
              <a:t> </a:t>
            </a:r>
            <a:r>
              <a:rPr lang="de-DE" sz="1180" b="0" dirty="0" err="1">
                <a:solidFill>
                  <a:srgbClr val="646E80"/>
                </a:solidFill>
                <a:latin typeface="Aptos"/>
              </a:rPr>
              <a:t>centers</a:t>
            </a:r>
            <a:r>
              <a:rPr lang="de-DE" sz="1180" b="0" dirty="0">
                <a:solidFill>
                  <a:srgbClr val="646E80"/>
                </a:solidFill>
                <a:latin typeface="Aptos"/>
              </a:rPr>
              <a:t> </a:t>
            </a:r>
            <a:r>
              <a:rPr lang="de-DE" sz="1180" b="0" dirty="0" err="1">
                <a:solidFill>
                  <a:srgbClr val="646E80"/>
                </a:solidFill>
                <a:latin typeface="Aptos"/>
              </a:rPr>
              <a:t>accredited</a:t>
            </a:r>
            <a:r>
              <a:rPr lang="de-DE" sz="1180" b="0" dirty="0">
                <a:solidFill>
                  <a:srgbClr val="646E80"/>
                </a:solidFill>
                <a:latin typeface="Aptos"/>
              </a:rPr>
              <a:t> by BAMF.</a:t>
            </a:r>
            <a:endParaRPr sz="1180" b="0" dirty="0">
              <a:solidFill>
                <a:srgbClr val="646E80"/>
              </a:solidFill>
              <a:latin typeface="Apto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535815-CE5B-862A-F2E9-5D3B573D4CEB}"/>
              </a:ext>
            </a:extLst>
          </p:cNvPr>
          <p:cNvSpPr txBox="1"/>
          <p:nvPr/>
        </p:nvSpPr>
        <p:spPr>
          <a:xfrm>
            <a:off x="7444909" y="3615104"/>
            <a:ext cx="3840480" cy="455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180" dirty="0" err="1">
                <a:solidFill>
                  <a:srgbClr val="646E80"/>
                </a:solidFill>
                <a:latin typeface="Aptos"/>
              </a:rPr>
              <a:t>A</a:t>
            </a:r>
            <a:r>
              <a:rPr lang="de-DE" sz="1180" b="0" dirty="0" err="1">
                <a:solidFill>
                  <a:srgbClr val="646E80"/>
                </a:solidFill>
                <a:latin typeface="Aptos"/>
              </a:rPr>
              <a:t>dministered</a:t>
            </a:r>
            <a:r>
              <a:rPr lang="de-DE" sz="1180" b="0" dirty="0">
                <a:solidFill>
                  <a:srgbClr val="646E80"/>
                </a:solidFill>
                <a:latin typeface="Aptos"/>
              </a:rPr>
              <a:t> at </a:t>
            </a:r>
            <a:r>
              <a:rPr lang="de-DE" sz="1180" b="0" dirty="0" err="1">
                <a:solidFill>
                  <a:srgbClr val="646E80"/>
                </a:solidFill>
                <a:latin typeface="Aptos"/>
              </a:rPr>
              <a:t>your</a:t>
            </a:r>
            <a:r>
              <a:rPr lang="de-DE" sz="1180" b="0" dirty="0">
                <a:solidFill>
                  <a:srgbClr val="646E80"/>
                </a:solidFill>
                <a:latin typeface="Aptos"/>
              </a:rPr>
              <a:t> </a:t>
            </a:r>
            <a:r>
              <a:rPr lang="de-DE" sz="1180" b="0" dirty="0" err="1">
                <a:solidFill>
                  <a:srgbClr val="646E80"/>
                </a:solidFill>
                <a:latin typeface="Aptos"/>
              </a:rPr>
              <a:t>local</a:t>
            </a:r>
            <a:r>
              <a:rPr lang="de-DE" sz="1180" b="0" dirty="0">
                <a:solidFill>
                  <a:srgbClr val="646E80"/>
                </a:solidFill>
                <a:latin typeface="Aptos"/>
              </a:rPr>
              <a:t> </a:t>
            </a:r>
            <a:r>
              <a:rPr lang="de-DE" sz="1180" b="0" dirty="0" err="1">
                <a:solidFill>
                  <a:srgbClr val="646E80"/>
                </a:solidFill>
                <a:latin typeface="Aptos"/>
              </a:rPr>
              <a:t>diplomatic</a:t>
            </a:r>
            <a:r>
              <a:rPr lang="de-DE" sz="1180" b="0" dirty="0">
                <a:solidFill>
                  <a:srgbClr val="646E80"/>
                </a:solidFill>
                <a:latin typeface="Aptos"/>
              </a:rPr>
              <a:t> </a:t>
            </a:r>
            <a:r>
              <a:rPr lang="de-DE" sz="1180" b="0" dirty="0" err="1">
                <a:solidFill>
                  <a:srgbClr val="646E80"/>
                </a:solidFill>
                <a:latin typeface="Aptos"/>
              </a:rPr>
              <a:t>mission</a:t>
            </a:r>
            <a:r>
              <a:rPr lang="de-DE" sz="1180" b="0" dirty="0">
                <a:solidFill>
                  <a:srgbClr val="646E80"/>
                </a:solidFill>
                <a:latin typeface="Aptos"/>
              </a:rPr>
              <a:t> in </a:t>
            </a:r>
            <a:r>
              <a:rPr lang="de-DE" sz="1180" b="0" dirty="0" err="1">
                <a:solidFill>
                  <a:srgbClr val="646E80"/>
                </a:solidFill>
                <a:latin typeface="Aptos"/>
              </a:rPr>
              <a:t>co</a:t>
            </a:r>
            <a:r>
              <a:rPr lang="de-DE" sz="1180" b="0" dirty="0">
                <a:solidFill>
                  <a:srgbClr val="646E80"/>
                </a:solidFill>
                <a:latin typeface="Aptos"/>
              </a:rPr>
              <a:t>-operation </a:t>
            </a:r>
            <a:r>
              <a:rPr lang="de-DE" sz="1180" b="0" dirty="0" err="1">
                <a:solidFill>
                  <a:srgbClr val="646E80"/>
                </a:solidFill>
                <a:latin typeface="Aptos"/>
              </a:rPr>
              <a:t>with</a:t>
            </a:r>
            <a:r>
              <a:rPr lang="de-DE" sz="1180" b="0" dirty="0">
                <a:solidFill>
                  <a:srgbClr val="646E80"/>
                </a:solidFill>
                <a:latin typeface="Aptos"/>
              </a:rPr>
              <a:t> BAMF.</a:t>
            </a:r>
            <a:endParaRPr sz="1180" b="0" dirty="0">
              <a:solidFill>
                <a:srgbClr val="646E80"/>
              </a:solidFill>
              <a:latin typeface="Aptos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F456FB1-676A-EAA8-7F5E-F6A10C7EA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899819"/>
            <a:ext cx="1183609" cy="1258759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E033F65-C896-1739-524B-B7CB04B6D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569388"/>
            <a:ext cx="1271095" cy="135179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48F16D99-B619-9826-F88D-F103B4B515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115212"/>
            <a:ext cx="1056537" cy="112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36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2" grpId="0" animBg="1"/>
      <p:bldP spid="33" grpId="0" animBg="1"/>
      <p:bldP spid="34" grpId="0" animBg="1"/>
      <p:bldP spid="35" grpId="0" animBg="1"/>
      <p:bldP spid="36" grpId="0"/>
      <p:bldP spid="37" grpId="0"/>
      <p:bldP spid="39" grpId="0"/>
      <p:bldP spid="41" grpId="0"/>
      <p:bldP spid="50" grpId="0"/>
      <p:bldP spid="51" grpId="0"/>
      <p:bldP spid="5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274320"/>
            <a:ext cx="12191999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92140" y="6536492"/>
            <a:ext cx="5029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dirty="0">
                <a:solidFill>
                  <a:srgbClr val="646E80"/>
                </a:solidFill>
                <a:latin typeface="Aptos"/>
              </a:rPr>
              <a:t>0</a:t>
            </a:r>
            <a:r>
              <a:rPr lang="de-DE" sz="1000" b="1" dirty="0">
                <a:solidFill>
                  <a:srgbClr val="646E80"/>
                </a:solidFill>
                <a:latin typeface="Aptos"/>
              </a:rPr>
              <a:t>5</a:t>
            </a:r>
            <a:endParaRPr sz="1000" b="1" dirty="0">
              <a:solidFill>
                <a:srgbClr val="646E8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7498079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2800" b="1" dirty="0" err="1">
                <a:solidFill>
                  <a:srgbClr val="131E37"/>
                </a:solidFill>
                <a:latin typeface="Aptos"/>
              </a:rPr>
              <a:t>What</a:t>
            </a:r>
            <a:r>
              <a:rPr sz="2800" b="1" dirty="0">
                <a:solidFill>
                  <a:srgbClr val="131E37"/>
                </a:solidFill>
                <a:latin typeface="Aptos"/>
              </a:rPr>
              <a:t> does the test look like?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17373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131E37"/>
                </a:solidFill>
                <a:latin typeface="Aptos"/>
              </a:rPr>
              <a:t>33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2174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46E80"/>
                </a:solidFill>
                <a:latin typeface="Aptos"/>
              </a:rPr>
              <a:t>One correct answer per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27889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131E37"/>
                </a:solidFill>
                <a:latin typeface="Aptos"/>
              </a:rPr>
              <a:t>60 minutes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24612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46E80"/>
                </a:solidFill>
                <a:latin typeface="Aptos"/>
              </a:rPr>
              <a:t>Plenty of time if you know the material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8404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F975C"/>
                </a:solidFill>
                <a:latin typeface="Aptos"/>
              </a:rPr>
              <a:t>17 / 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976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6E80"/>
                </a:solidFill>
                <a:latin typeface="Aptos"/>
              </a:rPr>
              <a:t>Knowledge threshold relevant to naturalisation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58200" y="1627632"/>
            <a:ext cx="2788920" cy="3611880"/>
          </a:xfrm>
          <a:prstGeom prst="roundRect">
            <a:avLst/>
          </a:prstGeom>
          <a:solidFill>
            <a:srgbClr val="F1F3FA"/>
          </a:solidFill>
          <a:ln w="12700">
            <a:solidFill>
              <a:srgbClr val="DD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96528" y="205740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6F5BC2"/>
                </a:solidFill>
                <a:latin typeface="Aptos"/>
              </a:rPr>
              <a:t>310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6528" y="2651760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31E37"/>
                </a:solidFill>
                <a:latin typeface="Aptos"/>
              </a:rPr>
              <a:t>official preparation
questions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6528" y="347472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2D80CD"/>
                </a:solidFill>
                <a:latin typeface="Aptos"/>
              </a:rPr>
              <a:t>300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38862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6E80"/>
                </a:solidFill>
                <a:latin typeface="Aptos"/>
              </a:rPr>
              <a:t>general questions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6528" y="4370832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F975C"/>
                </a:solidFill>
                <a:latin typeface="Aptos"/>
              </a:rPr>
              <a:t>+ 10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96528" y="47548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6E80"/>
                </a:solidFill>
                <a:latin typeface="Aptos"/>
              </a:rPr>
              <a:t>state-specific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6E80"/>
                </a:solidFill>
                <a:latin typeface="Aptos"/>
              </a:rPr>
              <a:t>Leben in Deutschland • Introductory Series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6510528"/>
            <a:ext cx="3337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F5BC2"/>
                </a:solidFill>
                <a:latin typeface="Aptos"/>
              </a:rPr>
              <a:t>ranjigt.github.io/lid-trainer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55EE72B-FEFE-2C8C-F453-0156601C3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49" y="1183598"/>
            <a:ext cx="4308677" cy="45822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/>
      <p:bldP spid="26" grpId="0" animBg="1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374904"/>
            <a:ext cx="12191999" cy="6858000"/>
          </a:xfrm>
          <a:prstGeom prst="rect">
            <a:avLst/>
          </a:prstGeom>
          <a:solidFill>
            <a:srgbClr val="13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593079" y="6510528"/>
            <a:ext cx="5029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dirty="0">
                <a:solidFill>
                  <a:srgbClr val="646E80"/>
                </a:solidFill>
                <a:latin typeface="Aptos"/>
              </a:rPr>
              <a:t>0</a:t>
            </a:r>
            <a:r>
              <a:rPr lang="de-DE" sz="1000" b="1" dirty="0">
                <a:solidFill>
                  <a:srgbClr val="646E80"/>
                </a:solidFill>
                <a:latin typeface="Aptos"/>
              </a:rPr>
              <a:t>6</a:t>
            </a:r>
            <a:endParaRPr sz="1000" b="1" dirty="0">
              <a:solidFill>
                <a:srgbClr val="646E8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4840" y="374904"/>
            <a:ext cx="9875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Aptos"/>
              </a:rPr>
              <a:t>It is more than a multiple-choice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FD9EC"/>
                </a:solidFill>
                <a:latin typeface="Aptos"/>
              </a:rPr>
              <a:t>The questions touch everyday life and the way Germany's democratic society 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3383280" cy="1143000"/>
          </a:xfrm>
          <a:prstGeom prst="roundRect">
            <a:avLst/>
          </a:prstGeom>
          <a:solidFill>
            <a:srgbClr val="1F3052"/>
          </a:solidFill>
          <a:ln w="12700">
            <a:solidFill>
              <a:srgbClr val="3E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35607" y="233172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Democracy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79192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BECAE1"/>
                </a:solidFill>
                <a:latin typeface="Aptos"/>
              </a:rPr>
              <a:t>How institutions and participation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2148840"/>
            <a:ext cx="3383280" cy="1143000"/>
          </a:xfrm>
          <a:prstGeom prst="roundRect">
            <a:avLst/>
          </a:prstGeom>
          <a:solidFill>
            <a:srgbClr val="1F3052"/>
          </a:solidFill>
          <a:ln w="12700">
            <a:solidFill>
              <a:srgbClr val="3E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0368" y="233172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679192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BECAE1"/>
                </a:solidFill>
                <a:latin typeface="Aptos"/>
              </a:rPr>
              <a:t>Equality, freedom and the rule of law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2148840"/>
            <a:ext cx="3383280" cy="1143000"/>
          </a:xfrm>
          <a:prstGeom prst="roundRect">
            <a:avLst/>
          </a:prstGeom>
          <a:solidFill>
            <a:srgbClr val="1F3052"/>
          </a:solidFill>
          <a:ln w="12700">
            <a:solidFill>
              <a:srgbClr val="3E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25128" y="233172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Society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2679192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BECAE1"/>
                </a:solidFill>
                <a:latin typeface="Aptos"/>
              </a:rPr>
              <a:t>Diversity, family, education and community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630168"/>
            <a:ext cx="3383280" cy="1143000"/>
          </a:xfrm>
          <a:prstGeom prst="roundRect">
            <a:avLst/>
          </a:prstGeom>
          <a:solidFill>
            <a:srgbClr val="1F3052"/>
          </a:solidFill>
          <a:ln w="12700">
            <a:solidFill>
              <a:srgbClr val="3E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35607" y="3813048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5607" y="4160520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BECAE1"/>
                </a:solidFill>
                <a:latin typeface="Aptos"/>
              </a:rPr>
              <a:t>Key events and developments in Germany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44566" y="3638707"/>
            <a:ext cx="3383280" cy="1143000"/>
          </a:xfrm>
          <a:prstGeom prst="roundRect">
            <a:avLst/>
          </a:prstGeom>
          <a:solidFill>
            <a:srgbClr val="1F3052"/>
          </a:solidFill>
          <a:ln w="12700">
            <a:solidFill>
              <a:srgbClr val="3E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05194" y="3813048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Everyday life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5194" y="4173123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BECAE1"/>
                </a:solidFill>
                <a:latin typeface="Aptos"/>
              </a:rPr>
              <a:t>Living, working and participating in Germany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47888" y="3630168"/>
            <a:ext cx="3383280" cy="1143000"/>
          </a:xfrm>
          <a:prstGeom prst="roundRect">
            <a:avLst/>
          </a:prstGeom>
          <a:solidFill>
            <a:srgbClr val="1F3052"/>
          </a:solidFill>
          <a:ln w="12700">
            <a:solidFill>
              <a:srgbClr val="3E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25128" y="3813048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Your 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5128" y="4160520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BECAE1"/>
                </a:solidFill>
                <a:latin typeface="Aptos"/>
              </a:rPr>
              <a:t>Questions specific to your Bundesland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623560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This series will focus on understanding first —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memorising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second.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646E80"/>
                </a:solidFill>
                <a:latin typeface="Aptos"/>
              </a:rPr>
              <a:t>Leben in Deutschland • Introductory Series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6510528"/>
            <a:ext cx="3337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F5BC2"/>
                </a:solidFill>
                <a:latin typeface="Aptos"/>
              </a:rPr>
              <a:t>ranjigt.github.io/lid-trainer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5357DA1B-4803-E7E5-AEA4-D59E21A09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2266696"/>
            <a:ext cx="860628" cy="91527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18A6010-4FEC-ECA0-6A5E-01F92F527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27" y="2266696"/>
            <a:ext cx="809176" cy="86055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3D0E53F-D57D-943A-DF3C-4EC357488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2280823"/>
            <a:ext cx="817956" cy="86989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5F7B6FF-5741-C201-FA38-EF2FB344D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719793"/>
            <a:ext cx="817956" cy="86989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73A3C9A-5B86-771C-26F7-EEB443BA89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6260" y="3696667"/>
            <a:ext cx="860628" cy="91527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417E9DD-C7C4-DF89-D910-3AC850D129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3719793"/>
            <a:ext cx="860628" cy="9152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0" grpId="0"/>
      <p:bldP spid="11" grpId="0"/>
      <p:bldP spid="12" grpId="0" animBg="1"/>
      <p:bldP spid="15" grpId="0"/>
      <p:bldP spid="16" grpId="0"/>
      <p:bldP spid="17" grpId="0" animBg="1"/>
      <p:bldP spid="20" grpId="0"/>
      <p:bldP spid="21" grpId="0"/>
      <p:bldP spid="22" grpId="0" animBg="1"/>
      <p:bldP spid="25" grpId="0"/>
      <p:bldP spid="26" grpId="0"/>
      <p:bldP spid="27" grpId="0" animBg="1"/>
      <p:bldP spid="30" grpId="0"/>
      <p:bldP spid="31" grpId="0"/>
      <p:bldP spid="32" grpId="0" animBg="1"/>
      <p:bldP spid="35" grpId="0"/>
      <p:bldP spid="36" grpId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2191999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72100" y="6510528"/>
            <a:ext cx="5029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dirty="0">
                <a:solidFill>
                  <a:srgbClr val="646E80"/>
                </a:solidFill>
                <a:latin typeface="Aptos"/>
              </a:rPr>
              <a:t>0</a:t>
            </a:r>
            <a:r>
              <a:rPr lang="de-DE" sz="1000" b="1" dirty="0">
                <a:solidFill>
                  <a:srgbClr val="646E80"/>
                </a:solidFill>
                <a:latin typeface="Aptos"/>
              </a:rPr>
              <a:t>7</a:t>
            </a:r>
            <a:endParaRPr sz="1000" b="1" dirty="0">
              <a:solidFill>
                <a:srgbClr val="646E8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31E37"/>
                </a:solidFill>
                <a:latin typeface="Aptos"/>
              </a:rPr>
              <a:t>More than 300,000 people took </a:t>
            </a:r>
            <a:r>
              <a:rPr sz="2800" b="1" dirty="0" err="1">
                <a:solidFill>
                  <a:srgbClr val="131E37"/>
                </a:solidFill>
                <a:latin typeface="Aptos"/>
              </a:rPr>
              <a:t>LiD</a:t>
            </a:r>
            <a:r>
              <a:rPr sz="2800" b="1" dirty="0">
                <a:solidFill>
                  <a:srgbClr val="131E37"/>
                </a:solidFill>
                <a:latin typeface="Aptos"/>
              </a:rPr>
              <a:t> in 2024.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6187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46E80"/>
                </a:solidFill>
                <a:latin typeface="Aptos"/>
              </a:rPr>
              <a:t>Official BAMF statistics show the size of the annual test audience.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32461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75104"/>
            <a:ext cx="2916936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6F5BC2"/>
                </a:solidFill>
                <a:latin typeface="Aptos"/>
              </a:rPr>
              <a:t>316,467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32304"/>
            <a:ext cx="2916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6E80"/>
                </a:solidFill>
                <a:latin typeface="Aptos"/>
              </a:rPr>
              <a:t>test participants in 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828800"/>
            <a:ext cx="32461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5112" y="1975104"/>
            <a:ext cx="2916936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F975C"/>
                </a:solidFill>
                <a:latin typeface="Aptos"/>
              </a:rPr>
              <a:t>290,017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2432304"/>
            <a:ext cx="2916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6E80"/>
                </a:solidFill>
                <a:latin typeface="Aptos"/>
              </a:rPr>
              <a:t>passed in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62672" y="1828800"/>
            <a:ext cx="32461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27264" y="1975104"/>
            <a:ext cx="2916936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D63F45"/>
                </a:solidFill>
                <a:latin typeface="Aptos"/>
              </a:rPr>
              <a:t>26,450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7264" y="2432304"/>
            <a:ext cx="2916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6E80"/>
                </a:solidFill>
                <a:latin typeface="Aptos"/>
              </a:rPr>
              <a:t>did not pass in 2024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062754"/>
              </p:ext>
            </p:extLst>
          </p:nvPr>
        </p:nvGraphicFramePr>
        <p:xfrm>
          <a:off x="731520" y="3246120"/>
          <a:ext cx="64922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543800" y="3246120"/>
            <a:ext cx="3886200" cy="2423160"/>
          </a:xfrm>
          <a:prstGeom prst="roundRect">
            <a:avLst/>
          </a:prstGeom>
          <a:solidFill>
            <a:srgbClr val="F1F3FA"/>
          </a:solidFill>
          <a:ln w="12700">
            <a:solidFill>
              <a:srgbClr val="DD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9560" y="3611880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300" b="1" dirty="0">
                <a:solidFill>
                  <a:srgbClr val="2F975C"/>
                </a:solidFill>
                <a:latin typeface="Aptos"/>
              </a:rPr>
              <a:t>91.6%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16052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31E37"/>
                </a:solidFill>
                <a:latin typeface="Aptos"/>
              </a:rPr>
              <a:t>2024 pass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4617720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D63F45"/>
                </a:solidFill>
                <a:latin typeface="Aptos"/>
              </a:rPr>
              <a:t>≈ 1 in 12 did not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5047488"/>
            <a:ext cx="3154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646E80"/>
                </a:solidFill>
                <a:latin typeface="Aptos"/>
              </a:rPr>
              <a:t>This is why preparation still matters.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925312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646E80"/>
                </a:solidFill>
                <a:latin typeface="Aptos"/>
              </a:rPr>
              <a:t>Source: BAMF, </a:t>
            </a:r>
            <a:r>
              <a:rPr sz="850" b="0" dirty="0" err="1">
                <a:solidFill>
                  <a:srgbClr val="646E80"/>
                </a:solidFill>
                <a:latin typeface="Aptos"/>
              </a:rPr>
              <a:t>Bundesamt</a:t>
            </a:r>
            <a:r>
              <a:rPr sz="850" b="0" dirty="0">
                <a:solidFill>
                  <a:srgbClr val="646E80"/>
                </a:solidFill>
                <a:latin typeface="Aptos"/>
              </a:rPr>
              <a:t> in Zahlen 2024.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6E80"/>
                </a:solidFill>
                <a:latin typeface="Aptos"/>
              </a:rPr>
              <a:t>Leben in Deutschland • Introductory Series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6510528"/>
            <a:ext cx="3337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F5BC2"/>
                </a:solidFill>
                <a:latin typeface="Aptos"/>
              </a:rPr>
              <a:t>ranjigt.github.io/lid-trainer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Graphic spid="16" grpId="0">
        <p:bldAsOne/>
      </p:bldGraphic>
      <p:bldP spid="17" grpId="0" animBg="1"/>
      <p:bldP spid="18" grpId="0"/>
      <p:bldP spid="19" grpId="0"/>
      <p:bldP spid="20" grpId="0"/>
      <p:bldP spid="21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F5BC2"/>
                </a:solidFill>
                <a:latin typeface="Aptos"/>
              </a:rPr>
              <a:t>THE LONG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6478857"/>
            <a:ext cx="5029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dirty="0">
                <a:solidFill>
                  <a:srgbClr val="646E80"/>
                </a:solidFill>
                <a:latin typeface="Aptos"/>
              </a:rPr>
              <a:t>0</a:t>
            </a:r>
            <a:r>
              <a:rPr lang="de-DE" sz="1000" b="1" dirty="0">
                <a:solidFill>
                  <a:srgbClr val="646E80"/>
                </a:solidFill>
                <a:latin typeface="Aptos"/>
              </a:rPr>
              <a:t>8</a:t>
            </a:r>
            <a:endParaRPr sz="1000" b="1" dirty="0">
              <a:solidFill>
                <a:srgbClr val="646E8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31E37"/>
                </a:solidFill>
                <a:latin typeface="Aptos"/>
              </a:rPr>
              <a:t>The test audience has changed dramatically over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6187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46E80"/>
                </a:solidFill>
                <a:latin typeface="Aptos"/>
              </a:rPr>
              <a:t>Annual </a:t>
            </a:r>
            <a:r>
              <a:rPr sz="1400" b="0" dirty="0" err="1">
                <a:solidFill>
                  <a:srgbClr val="646E80"/>
                </a:solidFill>
                <a:latin typeface="Aptos"/>
              </a:rPr>
              <a:t>LiD</a:t>
            </a:r>
            <a:r>
              <a:rPr sz="1400" b="0" dirty="0">
                <a:solidFill>
                  <a:srgbClr val="646E80"/>
                </a:solidFill>
                <a:latin typeface="Aptos"/>
              </a:rPr>
              <a:t> / orientation-test participants, 2009–2024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783080"/>
          <a:ext cx="74066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66760" y="1847088"/>
            <a:ext cx="29718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214884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6F5BC2"/>
                </a:solidFill>
                <a:latin typeface="Aptos"/>
              </a:rPr>
              <a:t>2009–2024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651760"/>
            <a:ext cx="2331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131E37"/>
                </a:solidFill>
                <a:latin typeface="Aptos"/>
              </a:rPr>
              <a:t>2.20M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182112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46E80"/>
                </a:solidFill>
                <a:latin typeface="Aptos"/>
              </a:rPr>
              <a:t>test attempts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822191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2F975C"/>
                </a:solidFill>
                <a:latin typeface="Aptos"/>
              </a:rPr>
              <a:t>91.5%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315968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46E80"/>
                </a:solidFill>
                <a:latin typeface="Aptos"/>
              </a:rPr>
              <a:t>overall pass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489204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31E37"/>
                </a:solidFill>
                <a:latin typeface="Aptos"/>
              </a:rPr>
              <a:t>The audience is real — and recurring.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961888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646E80"/>
                </a:solidFill>
                <a:latin typeface="Aptos"/>
              </a:rPr>
              <a:t>Source: BAMF, 2009–2024 table.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6E80"/>
                </a:solidFill>
                <a:latin typeface="Aptos"/>
              </a:rPr>
              <a:t>Leben in Deutschland • Introductory Series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6510528"/>
            <a:ext cx="3337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F5BC2"/>
                </a:solidFill>
                <a:latin typeface="Aptos"/>
              </a:rPr>
              <a:t>ranjigt.github.io/lid-trainer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Graphic spid="7" grpId="0">
        <p:bldAsOne/>
      </p:bldGraphic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2191999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dirty="0">
                <a:solidFill>
                  <a:srgbClr val="6F5BC2"/>
                </a:solidFill>
                <a:latin typeface="Aptos"/>
              </a:rPr>
              <a:t>TH</a:t>
            </a:r>
            <a:r>
              <a:rPr lang="de-DE" sz="900" b="1" dirty="0">
                <a:solidFill>
                  <a:srgbClr val="6F5BC2"/>
                </a:solidFill>
                <a:latin typeface="Aptos"/>
              </a:rPr>
              <a:t>IS YOUTUBE</a:t>
            </a:r>
            <a:r>
              <a:rPr sz="900" b="1" dirty="0">
                <a:solidFill>
                  <a:srgbClr val="6F5BC2"/>
                </a:solidFill>
                <a:latin typeface="Aptos"/>
              </a:rPr>
              <a:t>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53190" y="6492240"/>
            <a:ext cx="5029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dirty="0">
                <a:solidFill>
                  <a:srgbClr val="646E80"/>
                </a:solidFill>
                <a:latin typeface="Aptos"/>
              </a:rPr>
              <a:t>0</a:t>
            </a:r>
            <a:r>
              <a:rPr lang="de-DE" sz="1000" b="1" dirty="0">
                <a:solidFill>
                  <a:srgbClr val="646E80"/>
                </a:solidFill>
                <a:latin typeface="Aptos"/>
              </a:rPr>
              <a:t>9</a:t>
            </a:r>
            <a:endParaRPr sz="1000" b="1" dirty="0">
              <a:solidFill>
                <a:srgbClr val="646E8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85953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31E37"/>
                </a:solidFill>
                <a:latin typeface="Aptos"/>
              </a:rPr>
              <a:t>What you will get from this series</a:t>
            </a:r>
            <a:r>
              <a:rPr lang="de-DE" sz="2800" b="1" dirty="0">
                <a:solidFill>
                  <a:srgbClr val="131E37"/>
                </a:solidFill>
                <a:latin typeface="Aptos"/>
              </a:rPr>
              <a:t>?</a:t>
            </a:r>
            <a:endParaRPr sz="2800" b="1" dirty="0">
              <a:solidFill>
                <a:srgbClr val="131E37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648" y="12801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46E80"/>
                </a:solidFill>
                <a:latin typeface="Aptos"/>
              </a:rPr>
              <a:t>Short, visual lessons built</a:t>
            </a:r>
            <a:r>
              <a:rPr lang="de-DE" sz="1400" b="0" dirty="0">
                <a:solidFill>
                  <a:srgbClr val="646E80"/>
                </a:solidFill>
                <a:latin typeface="Aptos"/>
              </a:rPr>
              <a:t> </a:t>
            </a:r>
            <a:r>
              <a:rPr sz="1400" b="0" dirty="0">
                <a:solidFill>
                  <a:srgbClr val="646E80"/>
                </a:solidFill>
                <a:latin typeface="Aptos"/>
              </a:rPr>
              <a:t> around the official question catalogue.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33832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81328" y="2039112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31E37"/>
                </a:solidFill>
                <a:latin typeface="Aptos"/>
              </a:rP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414015"/>
            <a:ext cx="22402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6E80"/>
                </a:solidFill>
                <a:latin typeface="Aptos"/>
              </a:rPr>
              <a:t>What the question is really asking.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874519"/>
            <a:ext cx="33832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6088" y="2039112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31E37"/>
                </a:solidFill>
                <a:latin typeface="Aptos"/>
              </a:rPr>
              <a:t>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2414015"/>
            <a:ext cx="22402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6E80"/>
                </a:solidFill>
                <a:latin typeface="Aptos"/>
              </a:rPr>
              <a:t>The background and concept behind the answer.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1874519"/>
            <a:ext cx="33832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93352" y="1993391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31E37"/>
                </a:solidFill>
                <a:latin typeface="Aptos"/>
              </a:rP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1066" y="2423779"/>
            <a:ext cx="22402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646E80"/>
                </a:solidFill>
                <a:latin typeface="Aptos"/>
              </a:rPr>
              <a:t>Test yourself with quick quizzes.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355848"/>
            <a:ext cx="33832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81328" y="3520440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31E37"/>
                </a:solidFill>
                <a:latin typeface="Aptos"/>
              </a:rPr>
              <a:t>Remember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3895344"/>
            <a:ext cx="22402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6E80"/>
                </a:solidFill>
                <a:latin typeface="Aptos"/>
              </a:rPr>
              <a:t>Use repetition, patterns and examples.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53128" y="3355848"/>
            <a:ext cx="33832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60416" y="3465575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31E37"/>
                </a:solidFill>
                <a:latin typeface="Aptos"/>
              </a:rPr>
              <a:t>Simulate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86248" y="3895344"/>
            <a:ext cx="22402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646E80"/>
                </a:solidFill>
                <a:latin typeface="Aptos"/>
              </a:rPr>
              <a:t>Try full 33-question mock exams.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3355848"/>
            <a:ext cx="33832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39072" y="3465575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31E37"/>
                </a:solidFill>
                <a:latin typeface="Aptos"/>
              </a:rPr>
              <a:t>Improve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2120" y="3909059"/>
            <a:ext cx="22402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646E80"/>
                </a:solidFill>
                <a:latin typeface="Aptos"/>
              </a:rPr>
              <a:t>Review mistakes and repeat weak areas.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138928"/>
            <a:ext cx="10652760" cy="713232"/>
          </a:xfrm>
          <a:prstGeom prst="roundRect">
            <a:avLst/>
          </a:prstGeom>
          <a:solidFill>
            <a:srgbClr val="F2EEFC"/>
          </a:solidFill>
          <a:ln w="12700">
            <a:solidFill>
              <a:srgbClr val="E0D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358384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6F5BC2"/>
                </a:solidFill>
                <a:latin typeface="Aptos"/>
              </a:rPr>
              <a:t>Languages: English + German  •  Website practice  •  YouTube lessons  •  Open-source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6E80"/>
                </a:solidFill>
                <a:latin typeface="Aptos"/>
              </a:rPr>
              <a:t>Leben in Deutschland • Introductory Series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6510528"/>
            <a:ext cx="3337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F5BC2"/>
                </a:solidFill>
                <a:latin typeface="Aptos"/>
              </a:rPr>
              <a:t>ranjigt.github.io/lid-trainer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142612D-6ADF-F371-E960-7CC0A932B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32" y="1839956"/>
            <a:ext cx="1001889" cy="106550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8A898C6-D05E-5875-67E5-D9FFDA69E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904629"/>
            <a:ext cx="1015530" cy="108000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EEE3456-7E87-2CF1-F953-05482B7B5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7408" y="1909806"/>
            <a:ext cx="1013178" cy="10775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DA4AAE2-1B52-7D26-0757-95E632C857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832" y="3338909"/>
            <a:ext cx="1093978" cy="116343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708B3F3-F7DB-DF51-19D9-F49A0DB4CC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407" y="3373052"/>
            <a:ext cx="951841" cy="101227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EF7FCC1-2FE4-58DB-21E9-6DDE435783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3361316"/>
            <a:ext cx="1018032" cy="108266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9640DE6-045F-81DE-1C53-06654E53C1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2834" y="5099192"/>
            <a:ext cx="809426" cy="860818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6F36A16-DE9A-9092-BF5C-5DAE5C620D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6094" y="5087540"/>
            <a:ext cx="767291" cy="8160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9" grpId="0"/>
      <p:bldP spid="10" grpId="0"/>
      <p:bldP spid="11" grpId="0" animBg="1"/>
      <p:bldP spid="13" grpId="0"/>
      <p:bldP spid="14" grpId="0"/>
      <p:bldP spid="15" grpId="0" animBg="1"/>
      <p:bldP spid="17" grpId="0"/>
      <p:bldP spid="18" grpId="0"/>
      <p:bldP spid="19" grpId="0" animBg="1"/>
      <p:bldP spid="21" grpId="0"/>
      <p:bldP spid="22" grpId="0"/>
      <p:bldP spid="23" grpId="0" animBg="1"/>
      <p:bldP spid="25" grpId="0"/>
      <p:bldP spid="26" grpId="0"/>
      <p:bldP spid="27" grpId="0" animBg="1"/>
      <p:bldP spid="29" grpId="0"/>
      <p:bldP spid="30" grpId="0"/>
      <p:bldP spid="31" grpId="0" animBg="1"/>
      <p:bldP spid="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7714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F5BC2"/>
                </a:solidFill>
                <a:latin typeface="Aptos"/>
              </a:rPr>
              <a:t>FROM VIDEO TO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93079" y="6478857"/>
            <a:ext cx="5029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de-DE" sz="1000" b="1" dirty="0">
                <a:solidFill>
                  <a:srgbClr val="646E80"/>
                </a:solidFill>
                <a:latin typeface="Aptos"/>
              </a:rPr>
              <a:t>10</a:t>
            </a:r>
            <a:endParaRPr sz="1000" b="1" dirty="0">
              <a:solidFill>
                <a:srgbClr val="646E8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31E37"/>
                </a:solidFill>
                <a:latin typeface="Aptos"/>
              </a:rPr>
              <a:t>Don't just watch the answer — practise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11679"/>
            <a:ext cx="1920240" cy="220860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" y="2126036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F5BC2"/>
                </a:solidFill>
                <a:latin typeface="Aptos"/>
              </a:rPr>
              <a:t>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" y="3844221"/>
            <a:ext cx="15727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131E37"/>
                </a:solidFill>
                <a:latin typeface="Aptos"/>
              </a:rPr>
              <a:t>YouTube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24505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dirty="0">
                <a:solidFill>
                  <a:srgbClr val="646E80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2011680"/>
            <a:ext cx="1920240" cy="2208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87039" y="2126036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2D80CD"/>
                </a:solidFill>
                <a:latin typeface="Aptos"/>
              </a:rPr>
              <a:t>THINK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3" y="3839196"/>
            <a:ext cx="15727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131E37"/>
                </a:solidFill>
                <a:latin typeface="Aptos"/>
              </a:rPr>
              <a:t>Choose an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24505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dirty="0">
                <a:solidFill>
                  <a:srgbClr val="646E8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2011679"/>
            <a:ext cx="1920240" cy="22086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4668" y="2095705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2F975C"/>
                </a:solidFill>
                <a:latin typeface="Aptos"/>
              </a:rPr>
              <a:t>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4208" y="3815497"/>
            <a:ext cx="15727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131E37"/>
                </a:solidFill>
                <a:latin typeface="Aptos"/>
              </a:rPr>
              <a:t>Instant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5472" y="24505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dirty="0">
                <a:solidFill>
                  <a:srgbClr val="646E80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62088" y="2011680"/>
            <a:ext cx="1920240" cy="22086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05995" y="2108349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E2AE39"/>
                </a:solidFill>
                <a:latin typeface="Aptos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5431" y="3803459"/>
            <a:ext cx="15727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131E37"/>
                </a:solidFill>
                <a:latin typeface="Aptos"/>
              </a:rPr>
              <a:t>Review mistakes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2" y="24505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dirty="0">
                <a:solidFill>
                  <a:srgbClr val="646E80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93807" y="2011679"/>
            <a:ext cx="1920240" cy="22086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03535" y="2125463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D63F45"/>
                </a:solidFill>
                <a:latin typeface="Aptos"/>
              </a:rP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5832" y="3818280"/>
            <a:ext cx="15727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131E37"/>
                </a:solidFill>
                <a:latin typeface="Aptos"/>
              </a:rPr>
              <a:t>Build confidence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6799" y="4942665"/>
            <a:ext cx="10058400" cy="1143000"/>
          </a:xfrm>
          <a:prstGeom prst="roundRect">
            <a:avLst/>
          </a:prstGeom>
          <a:solidFill>
            <a:srgbClr val="131E37"/>
          </a:solidFill>
          <a:ln w="12700">
            <a:solidFill>
              <a:srgbClr val="13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86839" y="5198697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C6D1E7"/>
                </a:solidFill>
                <a:latin typeface="Aptos"/>
              </a:rPr>
              <a:t>This is the idea behind my </a:t>
            </a:r>
            <a:r>
              <a:rPr sz="1200" b="1" dirty="0" err="1">
                <a:solidFill>
                  <a:srgbClr val="C6D1E7"/>
                </a:solidFill>
                <a:latin typeface="Aptos"/>
              </a:rPr>
              <a:t>LiD</a:t>
            </a:r>
            <a:r>
              <a:rPr sz="1200" b="1" dirty="0">
                <a:solidFill>
                  <a:srgbClr val="C6D1E7"/>
                </a:solidFill>
                <a:latin typeface="Aptos"/>
              </a:rPr>
              <a:t> Trainer: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78679" y="5134689"/>
            <a:ext cx="5852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FFFFFF"/>
                </a:solidFill>
                <a:latin typeface="Aptos"/>
              </a:rPr>
              <a:t>turn passive watching into active learning.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6839" y="5701617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BCCAE4"/>
                </a:solidFill>
                <a:latin typeface="Aptos"/>
              </a:rPr>
              <a:t>Free to use • no installation • designed for repeated practice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6E80"/>
                </a:solidFill>
                <a:latin typeface="Aptos"/>
              </a:rPr>
              <a:t>Leben in Deutschland • Introductory Series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510528"/>
            <a:ext cx="3337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F5BC2"/>
                </a:solidFill>
                <a:latin typeface="Aptos"/>
              </a:rPr>
              <a:t>ranjigt.github.io/lid-trainer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4D535DE-FEE6-24C0-7603-40F6E901E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67" y="2351736"/>
            <a:ext cx="1464700" cy="155769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E0693D8-7618-047E-517B-BBAFE39D2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971" y="2190044"/>
            <a:ext cx="1665337" cy="177107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B483461-A8E1-756F-1066-1EC627ABF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5740" y="2484712"/>
            <a:ext cx="1222246" cy="129984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A7DAEA8-7FD9-6FDE-5A8B-0E71BB5D8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8710" y="2450592"/>
            <a:ext cx="1189199" cy="126470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6664667-543B-A9C5-394A-6D76F34F7C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0415" y="2461051"/>
            <a:ext cx="1204101" cy="12805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  <p:bldP spid="10" grpId="0" animBg="1"/>
      <p:bldP spid="11" grpId="0"/>
      <p:bldP spid="12" grpId="0"/>
      <p:bldP spid="13" grpId="0"/>
      <p:bldP spid="14" grpId="0" animBg="1"/>
      <p:bldP spid="15" grpId="0"/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56032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F5BC2"/>
                </a:solidFill>
                <a:latin typeface="Aptos"/>
              </a:rPr>
              <a:t>MY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50408" y="6540782"/>
            <a:ext cx="5029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dirty="0">
                <a:solidFill>
                  <a:srgbClr val="646E80"/>
                </a:solidFill>
                <a:latin typeface="Aptos"/>
              </a:rPr>
              <a:t>1</a:t>
            </a:r>
            <a:r>
              <a:rPr lang="de-DE" sz="1000" b="1" dirty="0">
                <a:solidFill>
                  <a:srgbClr val="646E80"/>
                </a:solidFill>
                <a:latin typeface="Aptos"/>
              </a:rPr>
              <a:t>1</a:t>
            </a:r>
            <a:endParaRPr sz="1000" b="1" dirty="0">
              <a:solidFill>
                <a:srgbClr val="646E8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31E37"/>
                </a:solidFill>
                <a:latin typeface="Aptos"/>
              </a:rPr>
              <a:t>Meet the LiD Trainer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8016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46E80"/>
                </a:solidFill>
                <a:latin typeface="Aptos"/>
              </a:rPr>
              <a:t>A small open-source project I built to make preparation more interactive.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1965960"/>
            <a:ext cx="1664208" cy="1115568"/>
          </a:xfrm>
          <a:prstGeom prst="roundRect">
            <a:avLst/>
          </a:prstGeom>
          <a:solidFill>
            <a:srgbClr val="F2EEFC"/>
          </a:solidFill>
          <a:ln w="12700">
            <a:solidFill>
              <a:srgbClr val="E0D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53527" y="2167128"/>
            <a:ext cx="14447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6F5BC2"/>
                </a:solidFill>
                <a:latin typeface="Aptos"/>
              </a:rPr>
              <a:t>Question bank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3527" y="2532888"/>
            <a:ext cx="14447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0">
                <a:solidFill>
                  <a:srgbClr val="646E80"/>
                </a:solidFill>
                <a:latin typeface="Aptos"/>
              </a:rPr>
              <a:t>Official catalogue structure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1965960"/>
            <a:ext cx="1664208" cy="1115568"/>
          </a:xfrm>
          <a:prstGeom prst="roundRect">
            <a:avLst/>
          </a:prstGeom>
          <a:solidFill>
            <a:srgbClr val="F2EEFC"/>
          </a:solidFill>
          <a:ln w="12700">
            <a:solidFill>
              <a:srgbClr val="E0D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28048" y="2167128"/>
            <a:ext cx="14447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6F5BC2"/>
                </a:solidFill>
                <a:latin typeface="Aptos"/>
              </a:rPr>
              <a:t>Exam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2532888"/>
            <a:ext cx="14447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0">
                <a:solidFill>
                  <a:srgbClr val="646E80"/>
                </a:solidFill>
                <a:latin typeface="Aptos"/>
              </a:rPr>
              <a:t>33 questions • timed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43800" y="3383280"/>
            <a:ext cx="1664208" cy="1115568"/>
          </a:xfrm>
          <a:prstGeom prst="roundRect">
            <a:avLst/>
          </a:prstGeom>
          <a:solidFill>
            <a:srgbClr val="F2EEFC"/>
          </a:solidFill>
          <a:ln w="12700">
            <a:solidFill>
              <a:srgbClr val="E0D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53527" y="3584448"/>
            <a:ext cx="14447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6F5BC2"/>
                </a:solidFill>
                <a:latin typeface="Aptos"/>
              </a:rPr>
              <a:t>Feedback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53527" y="3950208"/>
            <a:ext cx="14447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0">
                <a:solidFill>
                  <a:srgbClr val="646E80"/>
                </a:solidFill>
                <a:latin typeface="Aptos"/>
              </a:rPr>
              <a:t>Immediate answers &amp; review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18320" y="3383280"/>
            <a:ext cx="1664208" cy="1115568"/>
          </a:xfrm>
          <a:prstGeom prst="roundRect">
            <a:avLst/>
          </a:prstGeom>
          <a:solidFill>
            <a:srgbClr val="F2EEFC"/>
          </a:solidFill>
          <a:ln w="12700">
            <a:solidFill>
              <a:srgbClr val="E0D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28048" y="3584448"/>
            <a:ext cx="14447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dirty="0">
                <a:solidFill>
                  <a:srgbClr val="6F5BC2"/>
                </a:solidFill>
                <a:latin typeface="Aptos"/>
              </a:rPr>
              <a:t>Bilingual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8" y="3950208"/>
            <a:ext cx="14447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0">
                <a:solidFill>
                  <a:srgbClr val="646E80"/>
                </a:solidFill>
                <a:latin typeface="Aptos"/>
              </a:rPr>
              <a:t>English + German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50749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131E37"/>
                </a:solidFill>
                <a:latin typeface="Aptos"/>
              </a:rPr>
              <a:t>Open source on GitHub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6E80"/>
                </a:solidFill>
                <a:latin typeface="Aptos"/>
              </a:rPr>
              <a:t>Leben in Deutschland • Introductory Series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6510528"/>
            <a:ext cx="3337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F5BC2"/>
                </a:solidFill>
                <a:latin typeface="Aptos"/>
              </a:rPr>
              <a:t>ranjigt.github.io/lid-trainer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1B404EB-532D-C726-469B-D0FD57EAF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07" y="1130587"/>
            <a:ext cx="5411893" cy="56209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" grpId="0" animBg="1"/>
      <p:bldP spid="24" grpId="0"/>
      <p:bldP spid="25" grpId="0"/>
      <p:bldP spid="26" grpId="0" animBg="1"/>
      <p:bldP spid="27" grpId="0"/>
      <p:bldP spid="28" grpId="0"/>
      <p:bldP spid="29" grpId="0" animBg="1"/>
      <p:bldP spid="30" grpId="0"/>
      <p:bldP spid="31" grpId="0"/>
      <p:bldP spid="32" grpId="0" animBg="1"/>
      <p:bldP spid="33" grpId="0"/>
      <p:bldP spid="34" grpId="0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5186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F5BC2"/>
                </a:solidFill>
                <a:latin typeface="Aptos"/>
              </a:rPr>
              <a:t>START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2860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46E80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1E37"/>
                </a:solidFill>
                <a:latin typeface="Aptos"/>
              </a:rPr>
              <a:t>Ready for Question 1?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8016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646E80"/>
                </a:solidFill>
                <a:latin typeface="Aptos"/>
              </a:rPr>
              <a:t>Follow the series. </a:t>
            </a:r>
            <a:r>
              <a:rPr sz="1500" b="0" dirty="0" err="1">
                <a:solidFill>
                  <a:srgbClr val="646E80"/>
                </a:solidFill>
                <a:latin typeface="Aptos"/>
              </a:rPr>
              <a:t>Practise</a:t>
            </a:r>
            <a:r>
              <a:rPr sz="1500" b="0" dirty="0">
                <a:solidFill>
                  <a:srgbClr val="646E80"/>
                </a:solidFill>
                <a:latin typeface="Aptos"/>
              </a:rPr>
              <a:t> on the website. Build your confidence.</a:t>
            </a:r>
          </a:p>
        </p:txBody>
      </p:sp>
      <p:pic>
        <p:nvPicPr>
          <p:cNvPr id="7" name="Picture 6" descr="lid_trainer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1965960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40690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6F5BC2"/>
                </a:solidFill>
                <a:latin typeface="Aptos"/>
              </a:rPr>
              <a:t>Scan to practise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40740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46E80"/>
                </a:solidFill>
                <a:latin typeface="Aptos"/>
              </a:rPr>
              <a:t>ranjigt.github.io/lid-trainer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920240"/>
            <a:ext cx="7315200" cy="1115568"/>
          </a:xfrm>
          <a:prstGeom prst="roundRect">
            <a:avLst/>
          </a:prstGeom>
          <a:solidFill>
            <a:srgbClr val="F2EEFC"/>
          </a:solidFill>
          <a:ln w="12700">
            <a:solidFill>
              <a:srgbClr val="E0D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221284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F5BC2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12140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31E37"/>
                </a:solidFill>
                <a:latin typeface="Aptos"/>
              </a:rPr>
              <a:t>Watch the lessons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48716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6E80"/>
                </a:solidFill>
                <a:latin typeface="Aptos"/>
              </a:rPr>
              <a:t>YouTube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246120"/>
            <a:ext cx="7315200" cy="1115568"/>
          </a:xfrm>
          <a:prstGeom prst="roundRect">
            <a:avLst/>
          </a:prstGeom>
          <a:solidFill>
            <a:srgbClr val="EFF8F2"/>
          </a:solidFill>
          <a:ln w="12700">
            <a:solidFill>
              <a:srgbClr val="D7E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353872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2F975C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44728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 err="1">
                <a:solidFill>
                  <a:srgbClr val="131E37"/>
                </a:solidFill>
                <a:latin typeface="Aptos"/>
              </a:rPr>
              <a:t>Practise</a:t>
            </a:r>
            <a:r>
              <a:rPr sz="1600" b="1" dirty="0">
                <a:solidFill>
                  <a:srgbClr val="131E37"/>
                </a:solidFill>
                <a:latin typeface="Aptos"/>
              </a:rPr>
              <a:t> the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81304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646E80"/>
                </a:solidFill>
                <a:latin typeface="Aptos"/>
              </a:rPr>
              <a:t>LiD</a:t>
            </a:r>
            <a:r>
              <a:rPr sz="1050" b="0" dirty="0">
                <a:solidFill>
                  <a:srgbClr val="646E80"/>
                </a:solidFill>
                <a:latin typeface="Aptos"/>
              </a:rPr>
              <a:t> Trainer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4572000"/>
            <a:ext cx="7315200" cy="1115568"/>
          </a:xfrm>
          <a:prstGeom prst="roundRect">
            <a:avLst/>
          </a:prstGeom>
          <a:solidFill>
            <a:srgbClr val="F1F4FA"/>
          </a:solidFill>
          <a:ln w="12700">
            <a:solidFill>
              <a:srgbClr val="DC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0" y="486460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D80CD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477316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31E37"/>
                </a:solidFill>
                <a:latin typeface="Aptos"/>
              </a:rPr>
              <a:t>Explore &amp; contribute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513892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6E80"/>
                </a:solidFill>
                <a:latin typeface="Aptos"/>
              </a:rPr>
              <a:t>GitHub • open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5999" y="507492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 dirty="0" err="1">
                <a:solidFill>
                  <a:srgbClr val="6F5BC2"/>
                </a:solidFill>
                <a:latin typeface="Aptos"/>
              </a:rPr>
              <a:t>github.com</a:t>
            </a:r>
            <a:r>
              <a:rPr sz="1050" b="1" dirty="0">
                <a:solidFill>
                  <a:srgbClr val="6F5BC2"/>
                </a:solidFill>
                <a:latin typeface="Aptos"/>
              </a:rPr>
              <a:t>/</a:t>
            </a:r>
            <a:r>
              <a:rPr sz="1050" b="1" dirty="0" err="1">
                <a:solidFill>
                  <a:srgbClr val="6F5BC2"/>
                </a:solidFill>
                <a:latin typeface="Aptos"/>
              </a:rPr>
              <a:t>ranjiGT</a:t>
            </a:r>
            <a:r>
              <a:rPr sz="1050" b="1" dirty="0">
                <a:solidFill>
                  <a:srgbClr val="6F5BC2"/>
                </a:solidFill>
                <a:latin typeface="Aptos"/>
              </a:rPr>
              <a:t>/lid-trainer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0533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131E37"/>
                </a:solidFill>
                <a:latin typeface="Aptos"/>
              </a:rPr>
              <a:t>Thank you for watching • See you in the next lesson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6E80"/>
                </a:solidFill>
                <a:latin typeface="Aptos"/>
              </a:rPr>
              <a:t>Leben in Deutschland • Introductory Series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6510528"/>
            <a:ext cx="3337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F5BC2"/>
                </a:solidFill>
                <a:latin typeface="Aptos"/>
              </a:rPr>
              <a:t>ranjigt.github.io/lid-trainer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C31CF46-977D-EC5B-E116-47AA3883A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374" y="1874012"/>
            <a:ext cx="1153099" cy="122631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E25C593-F9C2-0CD7-F975-18AB412DD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3533" y="3310128"/>
            <a:ext cx="916940" cy="9751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7A6689C-F7CC-8E95-86F2-BA1C57E3BA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0737" y="4599231"/>
            <a:ext cx="989736" cy="10525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 animBg="1"/>
      <p:bldP spid="11" grpId="0"/>
      <p:bldP spid="12" grpId="0"/>
      <p:bldP spid="13" grpId="0"/>
      <p:bldP spid="14" grpId="0" animBg="1"/>
      <p:bldP spid="15" grpId="0"/>
      <p:bldP spid="16" grpId="0"/>
      <p:bldP spid="17" grpId="0"/>
      <p:bldP spid="18" grpId="0" animBg="1"/>
      <p:bldP spid="19" grpId="0"/>
      <p:bldP spid="20" grpId="0"/>
      <p:bldP spid="21" grpId="0"/>
      <p:bldP spid="22" grpId="0"/>
      <p:bldP spid="2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2d1c7476-f302-47ca-97a0-972f32671471}" enabled="1" method="Standard" siteId="{72e15514-5be9-46a8-8b0b-af9b1b77b3b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1590</TotalTime>
  <Words>933</Words>
  <Application>Microsoft Macintosh PowerPoint</Application>
  <PresentationFormat>Widescreen</PresentationFormat>
  <Paragraphs>182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NAIR, RANJIRAJ</cp:lastModifiedBy>
  <cp:revision>11</cp:revision>
  <dcterms:created xsi:type="dcterms:W3CDTF">2013-01-27T09:14:16Z</dcterms:created>
  <dcterms:modified xsi:type="dcterms:W3CDTF">2026-09-27T11:39:47Z</dcterms:modified>
  <cp:category/>
</cp:coreProperties>
</file>